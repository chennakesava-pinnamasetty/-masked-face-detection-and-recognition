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257" r:id="rId3"/>
    <p:sldId id="368" r:id="rId4"/>
    <p:sldId id="369" r:id="rId5"/>
    <p:sldId id="370" r:id="rId6"/>
    <p:sldId id="371" r:id="rId7"/>
    <p:sldId id="372" r:id="rId8"/>
    <p:sldId id="431" r:id="rId9"/>
    <p:sldId id="373" r:id="rId10"/>
    <p:sldId id="511" r:id="rId11"/>
    <p:sldId id="443" r:id="rId12"/>
    <p:sldId id="512" r:id="rId13"/>
    <p:sldId id="513" r:id="rId14"/>
    <p:sldId id="514" r:id="rId15"/>
    <p:sldId id="515" r:id="rId16"/>
    <p:sldId id="519" r:id="rId17"/>
    <p:sldId id="520" r:id="rId18"/>
    <p:sldId id="539" r:id="rId19"/>
    <p:sldId id="540" r:id="rId20"/>
    <p:sldId id="573" r:id="rId21"/>
    <p:sldId id="541" r:id="rId22"/>
    <p:sldId id="542" r:id="rId23"/>
    <p:sldId id="571" r:id="rId2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8000"/>
    <a:srgbClr val="990033"/>
    <a:srgbClr val="2C78B6"/>
    <a:srgbClr val="009900"/>
    <a:srgbClr val="D3552D"/>
    <a:srgbClr val="D517E9"/>
    <a:srgbClr val="74B230"/>
    <a:srgbClr val="DD7F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6D423D-D5EF-42C7-89DE-1447F123C154}" v="3" dt="2025-07-08T03:08:55.7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363" autoAdjust="0"/>
  </p:normalViewPr>
  <p:slideViewPr>
    <p:cSldViewPr snapToGrid="0">
      <p:cViewPr varScale="1">
        <p:scale>
          <a:sx n="90" d="100"/>
          <a:sy n="90" d="100"/>
        </p:scale>
        <p:origin x="39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shagirithananki@gmail.com" userId="a0240b3af9a42be5" providerId="LiveId" clId="{406D423D-D5EF-42C7-89DE-1447F123C154}"/>
    <pc:docChg chg="custSel addSld delSld modSld">
      <pc:chgData name="seshagirithananki@gmail.com" userId="a0240b3af9a42be5" providerId="LiveId" clId="{406D423D-D5EF-42C7-89DE-1447F123C154}" dt="2025-07-08T03:08:58.285" v="4" actId="47"/>
      <pc:docMkLst>
        <pc:docMk/>
      </pc:docMkLst>
      <pc:sldChg chg="addSp delSp modSp new del mod">
        <pc:chgData name="seshagirithananki@gmail.com" userId="a0240b3af9a42be5" providerId="LiveId" clId="{406D423D-D5EF-42C7-89DE-1447F123C154}" dt="2025-07-08T03:08:58.285" v="4" actId="47"/>
        <pc:sldMkLst>
          <pc:docMk/>
          <pc:sldMk cId="1677485080" sldId="572"/>
        </pc:sldMkLst>
        <pc:spChg chg="del">
          <ac:chgData name="seshagirithananki@gmail.com" userId="a0240b3af9a42be5" providerId="LiveId" clId="{406D423D-D5EF-42C7-89DE-1447F123C154}" dt="2025-07-08T03:08:26.252" v="1" actId="21"/>
          <ac:spMkLst>
            <pc:docMk/>
            <pc:sldMk cId="1677485080" sldId="572"/>
            <ac:spMk id="3" creationId="{E82DBEDA-5B90-A144-DC38-C671886BDE02}"/>
          </ac:spMkLst>
        </pc:spChg>
        <pc:spChg chg="add mod">
          <ac:chgData name="seshagirithananki@gmail.com" userId="a0240b3af9a42be5" providerId="LiveId" clId="{406D423D-D5EF-42C7-89DE-1447F123C154}" dt="2025-07-08T03:08:35.323" v="2"/>
          <ac:spMkLst>
            <pc:docMk/>
            <pc:sldMk cId="1677485080" sldId="572"/>
            <ac:spMk id="4" creationId="{E82DBEDA-5B90-A144-DC38-C671886BDE02}"/>
          </ac:spMkLst>
        </pc:spChg>
      </pc:sldChg>
      <pc:sldChg chg="add">
        <pc:chgData name="seshagirithananki@gmail.com" userId="a0240b3af9a42be5" providerId="LiveId" clId="{406D423D-D5EF-42C7-89DE-1447F123C154}" dt="2025-07-08T03:08:55.763" v="3"/>
        <pc:sldMkLst>
          <pc:docMk/>
          <pc:sldMk cId="452542343" sldId="5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E184E04D-1959-4B03-A946-5971EB2F6DD8}" type="datetime1">
              <a:rPr lang="en-US"/>
              <a:pPr>
                <a:defRPr/>
              </a:pPr>
              <a:t>7/8/2025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r>
              <a:rPr lang="en-IN"/>
              <a:t>1</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BB7DA04-660A-4D7B-8A39-432F8656B93A}" type="slidenum">
              <a:rPr lang="en-IN"/>
              <a:pPr>
                <a:defRPr/>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CF15C4AA-5438-4EFD-8904-85557E418E34}" type="datetime1">
              <a:rPr lang="en-US"/>
              <a:pPr>
                <a:defRPr/>
              </a:pPr>
              <a:t>7/8/2025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r>
              <a:rPr lang="en-US"/>
              <a:t>1</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D942AEB8-190D-4D6A-B136-7C9A82CC938E}" type="slidenum">
              <a:rPr lang="en-US"/>
              <a:pPr>
                <a:defRPr/>
              </a:pPr>
              <a:t>‹#›</a:t>
            </a:fld>
            <a:endParaRPr 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a:defRPr/>
            </a:pPr>
            <a:fld id="{D24ACA37-6BC8-402B-AB15-100AB3923409}" type="datetime1">
              <a:rPr lang="en-US"/>
              <a:pPr>
                <a:defRPr/>
              </a:pPr>
              <a:t>7/8/2025</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dirty="0"/>
              <a:t>                  </a:t>
            </a:r>
          </a:p>
        </p:txBody>
      </p:sp>
      <p:sp>
        <p:nvSpPr>
          <p:cNvPr id="6" name="Slide Number Placeholder 5"/>
          <p:cNvSpPr>
            <a:spLocks noGrp="1"/>
          </p:cNvSpPr>
          <p:nvPr>
            <p:ph type="sldNum" sz="quarter" idx="12"/>
          </p:nvPr>
        </p:nvSpPr>
        <p:spPr/>
        <p:txBody>
          <a:bodyPr/>
          <a:lstStyle>
            <a:lvl1pPr>
              <a:defRPr/>
            </a:lvl1pPr>
          </a:lstStyle>
          <a:p>
            <a:pPr>
              <a:defRPr/>
            </a:pPr>
            <a:fld id="{927AE523-9734-4989-A9B3-EB446E1B0642}" type="slidenum">
              <a:rPr lang="en-IN"/>
              <a:pPr>
                <a:defRPr/>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E03C93E8-33E7-4E5C-A155-F1ADC819A852}" type="datetime1">
              <a:rPr lang="en-US"/>
              <a:pPr>
                <a:defRPr/>
              </a:pPr>
              <a:t>7/8/2025</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dirty="0"/>
              <a:t>                  </a:t>
            </a:r>
          </a:p>
        </p:txBody>
      </p:sp>
      <p:sp>
        <p:nvSpPr>
          <p:cNvPr id="6" name="Slide Number Placeholder 5"/>
          <p:cNvSpPr>
            <a:spLocks noGrp="1"/>
          </p:cNvSpPr>
          <p:nvPr>
            <p:ph type="sldNum" sz="quarter" idx="12"/>
          </p:nvPr>
        </p:nvSpPr>
        <p:spPr/>
        <p:txBody>
          <a:bodyPr/>
          <a:lstStyle>
            <a:lvl1pPr>
              <a:defRPr/>
            </a:lvl1pPr>
          </a:lstStyle>
          <a:p>
            <a:pPr>
              <a:defRPr/>
            </a:pPr>
            <a:fld id="{A81B31C2-C575-4955-BC56-F5209240BC75}" type="slidenum">
              <a:rPr lang="en-IN"/>
              <a:pPr>
                <a:defRPr/>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51917BC-81D6-4795-AB21-738C13265E5D}" type="datetime1">
              <a:rPr lang="en-US"/>
              <a:pPr>
                <a:defRPr/>
              </a:pPr>
              <a:t>7/8/2025</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dirty="0"/>
              <a:t>                  </a:t>
            </a:r>
          </a:p>
        </p:txBody>
      </p:sp>
      <p:sp>
        <p:nvSpPr>
          <p:cNvPr id="6" name="Slide Number Placeholder 5"/>
          <p:cNvSpPr>
            <a:spLocks noGrp="1"/>
          </p:cNvSpPr>
          <p:nvPr>
            <p:ph type="sldNum" sz="quarter" idx="12"/>
          </p:nvPr>
        </p:nvSpPr>
        <p:spPr/>
        <p:txBody>
          <a:bodyPr/>
          <a:lstStyle>
            <a:lvl1pPr>
              <a:defRPr/>
            </a:lvl1pPr>
          </a:lstStyle>
          <a:p>
            <a:pPr>
              <a:defRPr/>
            </a:pPr>
            <a:fld id="{02C9361A-8609-4431-8E8B-AE1B7C97C0FE}" type="slidenum">
              <a:rPr lang="en-IN"/>
              <a:pPr>
                <a:defRPr/>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C220A7EF-317B-4690-BE91-F4193E76F3D2}" type="datetime1">
              <a:rPr lang="en-US"/>
              <a:pPr>
                <a:defRPr/>
              </a:pPr>
              <a:t>7/8/2025</a:t>
            </a:fld>
            <a:endParaRPr lang="en-IN"/>
          </a:p>
        </p:txBody>
      </p:sp>
      <p:sp>
        <p:nvSpPr>
          <p:cNvPr id="6" name="Footer Placeholder 4"/>
          <p:cNvSpPr>
            <a:spLocks noGrp="1"/>
          </p:cNvSpPr>
          <p:nvPr>
            <p:ph type="ftr" sz="quarter" idx="11"/>
          </p:nvPr>
        </p:nvSpPr>
        <p:spPr/>
        <p:txBody>
          <a:bodyPr/>
          <a:lstStyle>
            <a:lvl1pPr>
              <a:defRPr/>
            </a:lvl1pPr>
          </a:lstStyle>
          <a:p>
            <a:pPr>
              <a:defRPr/>
            </a:pPr>
            <a:r>
              <a:rPr lang="en-IN" dirty="0"/>
              <a:t>                  </a:t>
            </a:r>
          </a:p>
        </p:txBody>
      </p:sp>
      <p:sp>
        <p:nvSpPr>
          <p:cNvPr id="7" name="Slide Number Placeholder 5"/>
          <p:cNvSpPr>
            <a:spLocks noGrp="1"/>
          </p:cNvSpPr>
          <p:nvPr>
            <p:ph type="sldNum" sz="quarter" idx="12"/>
          </p:nvPr>
        </p:nvSpPr>
        <p:spPr/>
        <p:txBody>
          <a:bodyPr/>
          <a:lstStyle>
            <a:lvl1pPr>
              <a:defRPr/>
            </a:lvl1pPr>
          </a:lstStyle>
          <a:p>
            <a:pPr>
              <a:defRPr/>
            </a:pPr>
            <a:fld id="{A9E4B477-3C57-4804-B949-6CA92EE1EAF2}" type="slidenum">
              <a:rPr lang="en-IN"/>
              <a:pPr>
                <a:defRPr/>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fld id="{21769BCA-3026-420F-B120-79961039D4C5}" type="datetime1">
              <a:rPr lang="en-US"/>
              <a:pPr>
                <a:defRPr/>
              </a:pPr>
              <a:t>7/8/2025</a:t>
            </a:fld>
            <a:endParaRPr lang="en-IN"/>
          </a:p>
        </p:txBody>
      </p:sp>
      <p:sp>
        <p:nvSpPr>
          <p:cNvPr id="8" name="Footer Placeholder 4"/>
          <p:cNvSpPr>
            <a:spLocks noGrp="1"/>
          </p:cNvSpPr>
          <p:nvPr>
            <p:ph type="ftr" sz="quarter" idx="11"/>
          </p:nvPr>
        </p:nvSpPr>
        <p:spPr/>
        <p:txBody>
          <a:bodyPr/>
          <a:lstStyle>
            <a:lvl1pPr>
              <a:defRPr/>
            </a:lvl1pPr>
          </a:lstStyle>
          <a:p>
            <a:pPr>
              <a:defRPr/>
            </a:pPr>
            <a:r>
              <a:rPr lang="en-IN" dirty="0"/>
              <a:t>                  </a:t>
            </a:r>
          </a:p>
        </p:txBody>
      </p:sp>
      <p:sp>
        <p:nvSpPr>
          <p:cNvPr id="9" name="Slide Number Placeholder 5"/>
          <p:cNvSpPr>
            <a:spLocks noGrp="1"/>
          </p:cNvSpPr>
          <p:nvPr>
            <p:ph type="sldNum" sz="quarter" idx="12"/>
          </p:nvPr>
        </p:nvSpPr>
        <p:spPr/>
        <p:txBody>
          <a:bodyPr/>
          <a:lstStyle>
            <a:lvl1pPr>
              <a:defRPr/>
            </a:lvl1pPr>
          </a:lstStyle>
          <a:p>
            <a:pPr>
              <a:defRPr/>
            </a:pPr>
            <a:fld id="{7204AD48-B82C-48E8-ADF8-52DE58B8705F}" type="slidenum">
              <a:rPr lang="en-IN"/>
              <a:pPr>
                <a:defRPr/>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E52C0B10-ADD2-4E36-A5BC-33D4D2E81874}" type="datetime1">
              <a:rPr lang="en-US"/>
              <a:pPr>
                <a:defRPr/>
              </a:pPr>
              <a:t>7/8/2025</a:t>
            </a:fld>
            <a:endParaRPr lang="en-IN"/>
          </a:p>
        </p:txBody>
      </p:sp>
      <p:sp>
        <p:nvSpPr>
          <p:cNvPr id="4" name="Footer Placeholder 4"/>
          <p:cNvSpPr>
            <a:spLocks noGrp="1"/>
          </p:cNvSpPr>
          <p:nvPr>
            <p:ph type="ftr" sz="quarter" idx="11"/>
          </p:nvPr>
        </p:nvSpPr>
        <p:spPr/>
        <p:txBody>
          <a:bodyPr/>
          <a:lstStyle>
            <a:lvl1pPr>
              <a:defRPr/>
            </a:lvl1pPr>
          </a:lstStyle>
          <a:p>
            <a:pPr>
              <a:defRPr/>
            </a:pPr>
            <a:r>
              <a:rPr lang="en-IN" dirty="0"/>
              <a:t>                  </a:t>
            </a:r>
          </a:p>
        </p:txBody>
      </p:sp>
      <p:sp>
        <p:nvSpPr>
          <p:cNvPr id="5" name="Slide Number Placeholder 5"/>
          <p:cNvSpPr>
            <a:spLocks noGrp="1"/>
          </p:cNvSpPr>
          <p:nvPr>
            <p:ph type="sldNum" sz="quarter" idx="12"/>
          </p:nvPr>
        </p:nvSpPr>
        <p:spPr/>
        <p:txBody>
          <a:bodyPr/>
          <a:lstStyle>
            <a:lvl1pPr>
              <a:defRPr/>
            </a:lvl1pPr>
          </a:lstStyle>
          <a:p>
            <a:pPr>
              <a:defRPr/>
            </a:pPr>
            <a:fld id="{9D0ED94F-EA89-4C85-ACFA-881183FD9DA4}" type="slidenum">
              <a:rPr lang="en-IN"/>
              <a:pPr>
                <a:defRPr/>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153FF69-B200-40AC-B75A-B4DFCB9E1E41}" type="datetime1">
              <a:rPr lang="en-US"/>
              <a:pPr>
                <a:defRPr/>
              </a:pPr>
              <a:t>7/8/2025</a:t>
            </a:fld>
            <a:endParaRPr lang="en-IN"/>
          </a:p>
        </p:txBody>
      </p:sp>
      <p:sp>
        <p:nvSpPr>
          <p:cNvPr id="3" name="Footer Placeholder 4"/>
          <p:cNvSpPr>
            <a:spLocks noGrp="1"/>
          </p:cNvSpPr>
          <p:nvPr>
            <p:ph type="ftr" sz="quarter" idx="11"/>
          </p:nvPr>
        </p:nvSpPr>
        <p:spPr/>
        <p:txBody>
          <a:bodyPr/>
          <a:lstStyle>
            <a:lvl1pPr>
              <a:defRPr/>
            </a:lvl1pPr>
          </a:lstStyle>
          <a:p>
            <a:pPr>
              <a:defRPr/>
            </a:pPr>
            <a:r>
              <a:rPr lang="en-IN" dirty="0"/>
              <a:t>                  </a:t>
            </a:r>
          </a:p>
        </p:txBody>
      </p:sp>
      <p:sp>
        <p:nvSpPr>
          <p:cNvPr id="4" name="Slide Number Placeholder 5"/>
          <p:cNvSpPr>
            <a:spLocks noGrp="1"/>
          </p:cNvSpPr>
          <p:nvPr>
            <p:ph type="sldNum" sz="quarter" idx="12"/>
          </p:nvPr>
        </p:nvSpPr>
        <p:spPr/>
        <p:txBody>
          <a:bodyPr/>
          <a:lstStyle>
            <a:lvl1pPr>
              <a:defRPr/>
            </a:lvl1pPr>
          </a:lstStyle>
          <a:p>
            <a:pPr>
              <a:defRPr/>
            </a:pPr>
            <a:fld id="{B62CE883-1D24-4FE7-A415-A2B9C617DA2B}" type="slidenum">
              <a:rPr lang="en-IN"/>
              <a:pPr>
                <a:defRPr/>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F028155-71B5-4CDC-A0D6-38677AE92E14}" type="datetime1">
              <a:rPr lang="en-US"/>
              <a:pPr>
                <a:defRPr/>
              </a:pPr>
              <a:t>7/8/2025</a:t>
            </a:fld>
            <a:endParaRPr lang="en-IN"/>
          </a:p>
        </p:txBody>
      </p:sp>
      <p:sp>
        <p:nvSpPr>
          <p:cNvPr id="6" name="Footer Placeholder 4"/>
          <p:cNvSpPr>
            <a:spLocks noGrp="1"/>
          </p:cNvSpPr>
          <p:nvPr>
            <p:ph type="ftr" sz="quarter" idx="11"/>
          </p:nvPr>
        </p:nvSpPr>
        <p:spPr/>
        <p:txBody>
          <a:bodyPr/>
          <a:lstStyle>
            <a:lvl1pPr>
              <a:defRPr/>
            </a:lvl1pPr>
          </a:lstStyle>
          <a:p>
            <a:pPr>
              <a:defRPr/>
            </a:pPr>
            <a:r>
              <a:rPr lang="en-IN" dirty="0"/>
              <a:t>                  </a:t>
            </a:r>
          </a:p>
        </p:txBody>
      </p:sp>
      <p:sp>
        <p:nvSpPr>
          <p:cNvPr id="7" name="Slide Number Placeholder 5"/>
          <p:cNvSpPr>
            <a:spLocks noGrp="1"/>
          </p:cNvSpPr>
          <p:nvPr>
            <p:ph type="sldNum" sz="quarter" idx="12"/>
          </p:nvPr>
        </p:nvSpPr>
        <p:spPr/>
        <p:txBody>
          <a:bodyPr/>
          <a:lstStyle>
            <a:lvl1pPr>
              <a:defRPr/>
            </a:lvl1pPr>
          </a:lstStyle>
          <a:p>
            <a:pPr>
              <a:defRPr/>
            </a:pPr>
            <a:fld id="{B0B79319-408F-47B8-97F5-CC068F1FE54B}" type="slidenum">
              <a:rPr lang="en-IN"/>
              <a:pPr>
                <a:defRPr/>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6271283-BD76-4E00-A0C4-7571161115D0}" type="datetime1">
              <a:rPr lang="en-US"/>
              <a:pPr>
                <a:defRPr/>
              </a:pPr>
              <a:t>7/8/2025</a:t>
            </a:fld>
            <a:endParaRPr lang="en-IN"/>
          </a:p>
        </p:txBody>
      </p:sp>
      <p:sp>
        <p:nvSpPr>
          <p:cNvPr id="6" name="Footer Placeholder 4"/>
          <p:cNvSpPr>
            <a:spLocks noGrp="1"/>
          </p:cNvSpPr>
          <p:nvPr>
            <p:ph type="ftr" sz="quarter" idx="11"/>
          </p:nvPr>
        </p:nvSpPr>
        <p:spPr/>
        <p:txBody>
          <a:bodyPr/>
          <a:lstStyle>
            <a:lvl1pPr>
              <a:defRPr/>
            </a:lvl1pPr>
          </a:lstStyle>
          <a:p>
            <a:pPr>
              <a:defRPr/>
            </a:pPr>
            <a:r>
              <a:rPr lang="en-IN" dirty="0"/>
              <a:t>                  </a:t>
            </a:r>
          </a:p>
        </p:txBody>
      </p:sp>
      <p:sp>
        <p:nvSpPr>
          <p:cNvPr id="7" name="Slide Number Placeholder 5"/>
          <p:cNvSpPr>
            <a:spLocks noGrp="1"/>
          </p:cNvSpPr>
          <p:nvPr>
            <p:ph type="sldNum" sz="quarter" idx="12"/>
          </p:nvPr>
        </p:nvSpPr>
        <p:spPr/>
        <p:txBody>
          <a:bodyPr/>
          <a:lstStyle>
            <a:lvl1pPr>
              <a:defRPr/>
            </a:lvl1pPr>
          </a:lstStyle>
          <a:p>
            <a:pPr>
              <a:defRPr/>
            </a:pPr>
            <a:fld id="{9DC66DF3-E03D-4275-8D67-3090E5C726F8}" type="slidenum">
              <a:rPr lang="en-IN"/>
              <a:pPr>
                <a:defRPr/>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DA0CFE98-8B4F-4AA8-A6B4-91C6CAD50657}" type="datetime1">
              <a:rPr lang="en-US"/>
              <a:pPr>
                <a:defRPr/>
              </a:pPr>
              <a:t>7/8/2025</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dirty="0"/>
              <a:t>                  </a:t>
            </a:r>
          </a:p>
        </p:txBody>
      </p:sp>
      <p:sp>
        <p:nvSpPr>
          <p:cNvPr id="6" name="Slide Number Placeholder 5"/>
          <p:cNvSpPr>
            <a:spLocks noGrp="1"/>
          </p:cNvSpPr>
          <p:nvPr>
            <p:ph type="sldNum" sz="quarter" idx="12"/>
          </p:nvPr>
        </p:nvSpPr>
        <p:spPr/>
        <p:txBody>
          <a:bodyPr/>
          <a:lstStyle>
            <a:lvl1pPr>
              <a:defRPr/>
            </a:lvl1pPr>
          </a:lstStyle>
          <a:p>
            <a:pPr>
              <a:defRPr/>
            </a:pPr>
            <a:fld id="{CCFA1777-93A0-4D49-BEEF-FD7529FBD16C}" type="slidenum">
              <a:rPr lang="en-IN"/>
              <a:pPr>
                <a:defRPr/>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E9B6194E-7980-425E-8C12-8D1CB94E3056}" type="datetime1">
              <a:rPr lang="en-US"/>
              <a:pPr>
                <a:defRPr/>
              </a:pPr>
              <a:t>7/8/2025</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dirty="0"/>
              <a:t>                  </a:t>
            </a:r>
          </a:p>
        </p:txBody>
      </p:sp>
      <p:sp>
        <p:nvSpPr>
          <p:cNvPr id="6" name="Slide Number Placeholder 5"/>
          <p:cNvSpPr>
            <a:spLocks noGrp="1"/>
          </p:cNvSpPr>
          <p:nvPr>
            <p:ph type="sldNum" sz="quarter" idx="12"/>
          </p:nvPr>
        </p:nvSpPr>
        <p:spPr/>
        <p:txBody>
          <a:bodyPr/>
          <a:lstStyle>
            <a:lvl1pPr>
              <a:defRPr/>
            </a:lvl1pPr>
          </a:lstStyle>
          <a:p>
            <a:pPr>
              <a:defRPr/>
            </a:pPr>
            <a:fld id="{822A0DD4-9F2C-495B-B578-DCD5AF5F4002}" type="slidenum">
              <a:rPr lang="en-IN"/>
              <a:pPr>
                <a:defRPr/>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N"/>
          </a:p>
        </p:txBody>
      </p:sp>
      <p:sp>
        <p:nvSpPr>
          <p:cNvPr id="1027" name="Text Placeholder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3C4D08FB-F99D-4220-A51E-949CD97D13CD}" type="datetime1">
              <a:rPr lang="en-US"/>
              <a:pPr>
                <a:defRPr/>
              </a:pPr>
              <a:t>7/8/2025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IN" dirty="0"/>
              <a:t>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BAA38B02-FF1D-4B51-A098-0131A98FDF14}"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prajnasb/observations/tree/master/experiements/data"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www.kaggle.com/datasets/jangedoo/utkface-new"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www.kaggle.com/datasets/banilkumar20phd7071/masked-face-recognition-dataset-artificial-masking"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p:cNvSpPr/>
          <p:nvPr/>
        </p:nvSpPr>
        <p:spPr>
          <a:xfrm>
            <a:off x="387350" y="1250950"/>
            <a:ext cx="11520488" cy="2160588"/>
          </a:xfrm>
          <a:prstGeom prst="roundRect">
            <a:avLst/>
          </a:prstGeom>
          <a:solidFill>
            <a:srgbClr val="0070C0"/>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IN"/>
          </a:p>
        </p:txBody>
      </p:sp>
      <p:sp>
        <p:nvSpPr>
          <p:cNvPr id="7" name="TextBox 6"/>
          <p:cNvSpPr txBox="1"/>
          <p:nvPr/>
        </p:nvSpPr>
        <p:spPr>
          <a:xfrm>
            <a:off x="106363" y="4279900"/>
            <a:ext cx="4916487" cy="1631216"/>
          </a:xfrm>
          <a:prstGeom prst="rect">
            <a:avLst/>
          </a:prstGeom>
          <a:noFill/>
          <a:ln w="12700">
            <a:solidFill>
              <a:srgbClr val="0070C0"/>
            </a:solidFill>
            <a:prstDash val="lgDashDotDot"/>
          </a:ln>
        </p:spPr>
        <p:txBody>
          <a:bodyPr>
            <a:spAutoFit/>
          </a:bodyPr>
          <a:lstStyle/>
          <a:p>
            <a:pPr algn="ctr" defTabSz="457200" fontAlgn="auto">
              <a:spcBef>
                <a:spcPts val="0"/>
              </a:spcBef>
              <a:spcAft>
                <a:spcPts val="0"/>
              </a:spcAft>
              <a:buClr>
                <a:srgbClr val="000000"/>
              </a:buClr>
              <a:buSzPct val="45000"/>
              <a:buFont typeface="StarSymbol" charset="0"/>
              <a:buNone/>
              <a:defRPr/>
            </a:pPr>
            <a:r>
              <a:rPr lang="en-US" altLang="en-US" sz="2000" kern="0" dirty="0">
                <a:solidFill>
                  <a:srgbClr val="000000"/>
                </a:solidFill>
                <a:latin typeface="Times New Roman"/>
                <a:cs typeface="+mn-cs"/>
              </a:rPr>
              <a:t>  </a:t>
            </a:r>
            <a:r>
              <a:rPr lang="en-US" altLang="en-US" sz="2000" kern="0" dirty="0">
                <a:solidFill>
                  <a:srgbClr val="000000"/>
                </a:solidFill>
                <a:latin typeface="Cambria" pitchFamily="18" charset="0"/>
                <a:ea typeface="Cambria" pitchFamily="18" charset="0"/>
                <a:cs typeface="+mn-cs"/>
              </a:rPr>
              <a:t>Presented by    </a:t>
            </a:r>
          </a:p>
          <a:p>
            <a:pPr algn="ctr" defTabSz="457200" fontAlgn="auto">
              <a:spcBef>
                <a:spcPts val="0"/>
              </a:spcBef>
              <a:spcAft>
                <a:spcPts val="0"/>
              </a:spcAft>
              <a:buClr>
                <a:srgbClr val="000000"/>
              </a:buClr>
              <a:buSzPct val="45000"/>
              <a:buFont typeface="StarSymbol" charset="0"/>
              <a:buNone/>
              <a:defRPr/>
            </a:pPr>
            <a:r>
              <a:rPr lang="en-US" altLang="en-US" sz="2000" b="1" kern="0" dirty="0">
                <a:solidFill>
                  <a:srgbClr val="000000"/>
                </a:solidFill>
                <a:latin typeface="Cambria" pitchFamily="18" charset="0"/>
                <a:ea typeface="Cambria" pitchFamily="18" charset="0"/>
                <a:cs typeface="+mn-cs"/>
              </a:rPr>
              <a:t>  </a:t>
            </a:r>
            <a:endParaRPr lang="en-US" altLang="en-US" sz="2400" b="1" kern="0" dirty="0">
              <a:solidFill>
                <a:srgbClr val="C00000"/>
              </a:solidFill>
              <a:latin typeface="Cambria" pitchFamily="18" charset="0"/>
              <a:ea typeface="Cambria" pitchFamily="18" charset="0"/>
              <a:cs typeface="+mn-cs"/>
            </a:endParaRPr>
          </a:p>
          <a:p>
            <a:pPr algn="ctr" defTabSz="457200" fontAlgn="auto">
              <a:spcBef>
                <a:spcPts val="0"/>
              </a:spcBef>
              <a:spcAft>
                <a:spcPts val="0"/>
              </a:spcAft>
              <a:buClr>
                <a:srgbClr val="000000"/>
              </a:buClr>
              <a:buSzPct val="45000"/>
              <a:buFont typeface="StarSymbol" charset="0"/>
              <a:buNone/>
              <a:defRPr/>
            </a:pPr>
            <a:r>
              <a:rPr lang="en-US" altLang="en-US" sz="2000" b="1" kern="0" dirty="0">
                <a:solidFill>
                  <a:srgbClr val="000000"/>
                </a:solidFill>
                <a:latin typeface="Cambria" pitchFamily="18" charset="0"/>
                <a:ea typeface="Cambria" pitchFamily="18" charset="0"/>
                <a:cs typeface="+mn-cs"/>
              </a:rPr>
              <a:t>  </a:t>
            </a:r>
            <a:r>
              <a:rPr lang="en-US" altLang="en-US" sz="2000" kern="0" dirty="0">
                <a:solidFill>
                  <a:srgbClr val="000000"/>
                </a:solidFill>
                <a:latin typeface="Cambria" pitchFamily="18" charset="0"/>
                <a:ea typeface="Cambria" pitchFamily="18" charset="0"/>
                <a:cs typeface="+mn-cs"/>
              </a:rPr>
              <a:t>Batch-1</a:t>
            </a:r>
            <a:endParaRPr lang="en-US" altLang="en-US" sz="2000" b="1" kern="0" dirty="0">
              <a:solidFill>
                <a:srgbClr val="C00000"/>
              </a:solidFill>
              <a:latin typeface="Cambria" pitchFamily="18" charset="0"/>
              <a:ea typeface="Cambria" pitchFamily="18" charset="0"/>
              <a:cs typeface="+mn-cs"/>
            </a:endParaRPr>
          </a:p>
          <a:p>
            <a:r>
              <a:rPr lang="en-US" altLang="en-US" sz="2000" kern="0" dirty="0">
                <a:solidFill>
                  <a:srgbClr val="000000"/>
                </a:solidFill>
                <a:latin typeface="Cambria" pitchFamily="18" charset="0"/>
                <a:ea typeface="Cambria" pitchFamily="18" charset="0"/>
                <a:cs typeface="+mn-cs"/>
              </a:rPr>
              <a:t>  </a:t>
            </a:r>
            <a:r>
              <a:rPr lang="en-IN" altLang="en-US" sz="2000" dirty="0">
                <a:latin typeface="Cambria" pitchFamily="18" charset="0"/>
              </a:rPr>
              <a:t>            Computer Science Engineering, </a:t>
            </a:r>
          </a:p>
          <a:p>
            <a:pPr algn="ctr"/>
            <a:r>
              <a:rPr lang="en-US" altLang="en-US" sz="2000" kern="0" dirty="0">
                <a:solidFill>
                  <a:srgbClr val="000000"/>
                </a:solidFill>
                <a:latin typeface="Cambria" pitchFamily="18" charset="0"/>
                <a:ea typeface="Cambria" pitchFamily="18" charset="0"/>
              </a:rPr>
              <a:t> VFSTR, Off-Campus Hyderabad</a:t>
            </a:r>
            <a:endParaRPr lang="en-US" altLang="en-US" sz="2000" kern="0" dirty="0">
              <a:solidFill>
                <a:srgbClr val="000000"/>
              </a:solidFill>
              <a:latin typeface="Cambria" pitchFamily="18" charset="0"/>
              <a:ea typeface="Cambria" pitchFamily="18" charset="0"/>
              <a:cs typeface="+mn-cs"/>
            </a:endParaRPr>
          </a:p>
        </p:txBody>
      </p:sp>
      <p:sp>
        <p:nvSpPr>
          <p:cNvPr id="2053" name="Rectangle 5"/>
          <p:cNvSpPr>
            <a:spLocks noChangeArrowheads="1"/>
          </p:cNvSpPr>
          <p:nvPr/>
        </p:nvSpPr>
        <p:spPr bwMode="auto">
          <a:xfrm>
            <a:off x="7131050" y="4249738"/>
            <a:ext cx="4916488" cy="1692771"/>
          </a:xfrm>
          <a:prstGeom prst="rect">
            <a:avLst/>
          </a:prstGeom>
          <a:noFill/>
          <a:ln w="12700">
            <a:solidFill>
              <a:srgbClr val="0070C0"/>
            </a:solidFill>
            <a:prstDash val="lgDashDot"/>
            <a:miter lim="800000"/>
            <a:headEnd/>
            <a:tailEnd/>
          </a:ln>
        </p:spPr>
        <p:txBody>
          <a:bodyPr>
            <a:spAutoFit/>
          </a:bodyPr>
          <a:lstStyle/>
          <a:p>
            <a:r>
              <a:rPr lang="en-IN" altLang="en-US" sz="2000" dirty="0">
                <a:latin typeface="Times New Roman" pitchFamily="18" charset="0"/>
              </a:rPr>
              <a:t>                   </a:t>
            </a:r>
            <a:r>
              <a:rPr lang="en-IN" altLang="en-US" sz="2000" dirty="0">
                <a:latin typeface="Cambria" pitchFamily="18" charset="0"/>
              </a:rPr>
              <a:t>Under the Supervision of</a:t>
            </a:r>
          </a:p>
          <a:p>
            <a:r>
              <a:rPr lang="en-IN" altLang="en-US" sz="2000" dirty="0">
                <a:solidFill>
                  <a:srgbClr val="008000"/>
                </a:solidFill>
                <a:latin typeface="Cambria" pitchFamily="18" charset="0"/>
              </a:rPr>
              <a:t>                         </a:t>
            </a:r>
            <a:r>
              <a:rPr lang="en-IN" altLang="en-US" sz="2400" b="1" dirty="0" err="1">
                <a:solidFill>
                  <a:srgbClr val="008000"/>
                </a:solidFill>
                <a:latin typeface="Cambria" pitchFamily="18" charset="0"/>
              </a:rPr>
              <a:t>Dr.G.Shiva</a:t>
            </a:r>
            <a:r>
              <a:rPr lang="en-IN" altLang="en-US" sz="2400" b="1" dirty="0">
                <a:solidFill>
                  <a:srgbClr val="008000"/>
                </a:solidFill>
                <a:latin typeface="Cambria" pitchFamily="18" charset="0"/>
              </a:rPr>
              <a:t> Kumar</a:t>
            </a:r>
            <a:endParaRPr lang="en-IN" altLang="en-US" sz="2400" dirty="0">
              <a:solidFill>
                <a:srgbClr val="008000"/>
              </a:solidFill>
              <a:latin typeface="Cambria" pitchFamily="18" charset="0"/>
            </a:endParaRPr>
          </a:p>
          <a:p>
            <a:r>
              <a:rPr lang="en-IN" altLang="en-US" sz="2000" dirty="0">
                <a:latin typeface="Cambria" pitchFamily="18" charset="0"/>
              </a:rPr>
              <a:t>               Assistant Professor, Coordinator </a:t>
            </a:r>
          </a:p>
          <a:p>
            <a:r>
              <a:rPr lang="en-IN" altLang="en-US" sz="2000" dirty="0">
                <a:latin typeface="Cambria" pitchFamily="18" charset="0"/>
              </a:rPr>
              <a:t>                  Computer Science Engineering, </a:t>
            </a:r>
          </a:p>
          <a:p>
            <a:pPr algn="ctr"/>
            <a:r>
              <a:rPr lang="en-US" altLang="en-US" sz="2000" kern="0" dirty="0">
                <a:solidFill>
                  <a:srgbClr val="000000"/>
                </a:solidFill>
                <a:latin typeface="Cambria" pitchFamily="18" charset="0"/>
                <a:ea typeface="Cambria" pitchFamily="18" charset="0"/>
              </a:rPr>
              <a:t>            VFSTR, Off-Campus Hyderabad</a:t>
            </a:r>
            <a:endParaRPr lang="en-IN" altLang="en-US" sz="2000" dirty="0">
              <a:latin typeface="Cambria" pitchFamily="18" charset="0"/>
            </a:endParaRPr>
          </a:p>
        </p:txBody>
      </p:sp>
      <p:sp>
        <p:nvSpPr>
          <p:cNvPr id="9" name="Rectangle: Rounded Corners 8"/>
          <p:cNvSpPr/>
          <p:nvPr/>
        </p:nvSpPr>
        <p:spPr>
          <a:xfrm>
            <a:off x="-1" y="6427854"/>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400" dirty="0"/>
              <a:t>											</a:t>
            </a:r>
            <a:endParaRPr lang="en-IN" sz="1400" dirty="0"/>
          </a:p>
        </p:txBody>
      </p:sp>
      <p:sp>
        <p:nvSpPr>
          <p:cNvPr id="11" name="Rectangle 3"/>
          <p:cNvSpPr txBox="1">
            <a:spLocks noChangeArrowheads="1"/>
          </p:cNvSpPr>
          <p:nvPr/>
        </p:nvSpPr>
        <p:spPr bwMode="auto">
          <a:xfrm>
            <a:off x="2757488" y="238125"/>
            <a:ext cx="6677025" cy="757238"/>
          </a:xfrm>
          <a:prstGeom prst="rect">
            <a:avLst/>
          </a:prstGeom>
          <a:noFill/>
          <a:ln>
            <a:noFill/>
          </a:ln>
        </p:spPr>
        <p:txBody>
          <a:bodyPr lIns="0" tIns="0" rIns="0" bIns="0"/>
          <a:lstStyle>
            <a:lvl1pPr marL="0" indent="0" algn="ctr" defTabSz="457200" rtl="0" eaLnBrk="0" fontAlgn="base" hangingPunct="0">
              <a:lnSpc>
                <a:spcPct val="93000"/>
              </a:lnSpc>
              <a:spcBef>
                <a:spcPct val="0"/>
              </a:spcBef>
              <a:spcAft>
                <a:spcPts val="1425"/>
              </a:spcAft>
              <a:buClr>
                <a:srgbClr val="000000"/>
              </a:buClr>
              <a:buSzPct val="45000"/>
              <a:buFont typeface="StarSymbol" charset="0"/>
              <a:buNone/>
              <a:defRPr sz="3200">
                <a:solidFill>
                  <a:srgbClr val="000000"/>
                </a:solidFill>
                <a:latin typeface="+mn-lt"/>
                <a:ea typeface="+mn-ea"/>
                <a:cs typeface="+mn-cs"/>
              </a:defRPr>
            </a:lvl1pPr>
            <a:lvl2pPr marL="457200" indent="0" algn="ctr" defTabSz="457200" rtl="0" eaLnBrk="0" fontAlgn="base" hangingPunct="0">
              <a:lnSpc>
                <a:spcPct val="93000"/>
              </a:lnSpc>
              <a:spcBef>
                <a:spcPct val="0"/>
              </a:spcBef>
              <a:spcAft>
                <a:spcPts val="1138"/>
              </a:spcAft>
              <a:buClr>
                <a:srgbClr val="000000"/>
              </a:buClr>
              <a:buSzPct val="75000"/>
              <a:buFont typeface="StarSymbol" charset="0"/>
              <a:buNone/>
              <a:defRPr sz="2800">
                <a:solidFill>
                  <a:srgbClr val="000000"/>
                </a:solidFill>
                <a:latin typeface="+mn-lt"/>
              </a:defRPr>
            </a:lvl2pPr>
            <a:lvl3pPr marL="914400" indent="0" algn="ctr" defTabSz="457200" rtl="0" eaLnBrk="0" fontAlgn="base" hangingPunct="0">
              <a:lnSpc>
                <a:spcPct val="93000"/>
              </a:lnSpc>
              <a:spcBef>
                <a:spcPct val="0"/>
              </a:spcBef>
              <a:spcAft>
                <a:spcPts val="850"/>
              </a:spcAft>
              <a:buClr>
                <a:srgbClr val="000000"/>
              </a:buClr>
              <a:buSzPct val="45000"/>
              <a:buFont typeface="StarSymbol" charset="0"/>
              <a:buNone/>
              <a:defRPr sz="2400">
                <a:solidFill>
                  <a:srgbClr val="000000"/>
                </a:solidFill>
                <a:latin typeface="+mn-lt"/>
              </a:defRPr>
            </a:lvl3pPr>
            <a:lvl4pPr marL="1371600" indent="0" algn="ctr" defTabSz="457200" rtl="0" eaLnBrk="0" fontAlgn="base" hangingPunct="0">
              <a:lnSpc>
                <a:spcPct val="93000"/>
              </a:lnSpc>
              <a:spcBef>
                <a:spcPct val="0"/>
              </a:spcBef>
              <a:spcAft>
                <a:spcPts val="575"/>
              </a:spcAft>
              <a:buClr>
                <a:srgbClr val="000000"/>
              </a:buClr>
              <a:buSzPct val="75000"/>
              <a:buFont typeface="StarSymbol" charset="0"/>
              <a:buNone/>
              <a:defRPr sz="2000">
                <a:solidFill>
                  <a:srgbClr val="000000"/>
                </a:solidFill>
                <a:latin typeface="+mn-lt"/>
              </a:defRPr>
            </a:lvl4pPr>
            <a:lvl5pPr marL="1828800" indent="0" algn="ctr" defTabSz="457200" rtl="0" eaLnBrk="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5pPr>
            <a:lvl6pPr marL="2286000" indent="0" algn="ctr" defTabSz="457200" rtl="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6pPr>
            <a:lvl7pPr marL="2743200" indent="0" algn="ctr" defTabSz="457200" rtl="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7pPr>
            <a:lvl8pPr marL="3200400" indent="0" algn="ctr" defTabSz="457200" rtl="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8pPr>
            <a:lvl9pPr marL="3657600" indent="0" algn="ctr" defTabSz="457200" rtl="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9pPr>
          </a:lstStyle>
          <a:p>
            <a:pPr eaLnBrk="1">
              <a:lnSpc>
                <a:spcPct val="100000"/>
              </a:lnSpc>
              <a:spcAft>
                <a:spcPct val="0"/>
              </a:spcAft>
              <a:buSzPct val="100000"/>
              <a:defRPr/>
            </a:pPr>
            <a:r>
              <a:rPr lang="en-US" altLang="en-US" sz="4000" b="1" dirty="0">
                <a:solidFill>
                  <a:schemeClr val="accent2">
                    <a:lumMod val="75000"/>
                  </a:schemeClr>
                </a:solidFill>
                <a:effectLst>
                  <a:outerShdw blurRad="31750" dist="25400" dir="5400000" algn="tl" rotWithShape="0">
                    <a:srgbClr val="000000">
                      <a:alpha val="25000"/>
                    </a:srgbClr>
                  </a:outerShdw>
                </a:effectLst>
                <a:latin typeface="Times New Roman"/>
                <a:cs typeface="Calibri" pitchFamily="34" charset="0"/>
              </a:rPr>
              <a:t>Project Presentation  </a:t>
            </a:r>
            <a:endParaRPr lang="en-US" altLang="en-US" sz="4000" b="1" kern="0" dirty="0">
              <a:solidFill>
                <a:schemeClr val="accent2">
                  <a:lumMod val="75000"/>
                </a:schemeClr>
              </a:solidFill>
              <a:latin typeface="Times New Roman"/>
            </a:endParaRPr>
          </a:p>
        </p:txBody>
      </p:sp>
      <p:sp>
        <p:nvSpPr>
          <p:cNvPr id="3" name="TextBox 2"/>
          <p:cNvSpPr txBox="1"/>
          <p:nvPr/>
        </p:nvSpPr>
        <p:spPr>
          <a:xfrm>
            <a:off x="5124450" y="3494088"/>
            <a:ext cx="2181225" cy="461665"/>
          </a:xfrm>
          <a:prstGeom prst="rect">
            <a:avLst/>
          </a:prstGeom>
          <a:noFill/>
        </p:spPr>
        <p:txBody>
          <a:bodyPr wrap="square">
            <a:spAutoFit/>
          </a:bodyPr>
          <a:lstStyle/>
          <a:p>
            <a:pPr fontAlgn="auto">
              <a:spcBef>
                <a:spcPts val="0"/>
              </a:spcBef>
              <a:spcAft>
                <a:spcPts val="0"/>
              </a:spcAft>
              <a:defRPr/>
            </a:pPr>
            <a:r>
              <a:rPr lang="en-US" altLang="en-US" sz="2400" b="1" dirty="0">
                <a:solidFill>
                  <a:srgbClr val="7030A0"/>
                </a:solidFill>
                <a:effectLst>
                  <a:outerShdw blurRad="31750" dist="25400" dir="5400000" algn="tl" rotWithShape="0">
                    <a:srgbClr val="000000">
                      <a:alpha val="25000"/>
                    </a:srgbClr>
                  </a:outerShdw>
                </a:effectLst>
                <a:latin typeface="Times New Roman"/>
                <a:cs typeface="Calibri" pitchFamily="34" charset="0"/>
              </a:rPr>
              <a:t>27</a:t>
            </a:r>
            <a:r>
              <a:rPr lang="en-US" altLang="en-US" sz="2400" b="1" baseline="30000" dirty="0">
                <a:solidFill>
                  <a:srgbClr val="7030A0"/>
                </a:solidFill>
                <a:effectLst>
                  <a:outerShdw blurRad="31750" dist="25400" dir="5400000" algn="tl" rotWithShape="0">
                    <a:srgbClr val="000000">
                      <a:alpha val="25000"/>
                    </a:srgbClr>
                  </a:outerShdw>
                </a:effectLst>
                <a:latin typeface="Times New Roman"/>
                <a:cs typeface="Calibri" pitchFamily="34" charset="0"/>
              </a:rPr>
              <a:t>th</a:t>
            </a:r>
            <a:r>
              <a:rPr lang="en-US" altLang="en-US" sz="2400" b="1" dirty="0">
                <a:solidFill>
                  <a:srgbClr val="7030A0"/>
                </a:solidFill>
                <a:effectLst>
                  <a:outerShdw blurRad="31750" dist="25400" dir="5400000" algn="tl" rotWithShape="0">
                    <a:srgbClr val="000000">
                      <a:alpha val="25000"/>
                    </a:srgbClr>
                  </a:outerShdw>
                </a:effectLst>
                <a:latin typeface="Times New Roman"/>
                <a:cs typeface="Calibri" pitchFamily="34" charset="0"/>
              </a:rPr>
              <a:t> May 2025</a:t>
            </a:r>
            <a:endParaRPr lang="en-IN" sz="2400" dirty="0">
              <a:solidFill>
                <a:srgbClr val="7030A0"/>
              </a:solidFill>
              <a:latin typeface="+mn-lt"/>
              <a:cs typeface="+mn-cs"/>
            </a:endParaRPr>
          </a:p>
        </p:txBody>
      </p:sp>
      <p:sp>
        <p:nvSpPr>
          <p:cNvPr id="2059" name="TextBox 13"/>
          <p:cNvSpPr txBox="1">
            <a:spLocks noChangeArrowheads="1"/>
          </p:cNvSpPr>
          <p:nvPr/>
        </p:nvSpPr>
        <p:spPr bwMode="auto">
          <a:xfrm>
            <a:off x="638175" y="1609725"/>
            <a:ext cx="11010900" cy="1615827"/>
          </a:xfrm>
          <a:prstGeom prst="rect">
            <a:avLst/>
          </a:prstGeom>
          <a:noFill/>
          <a:ln w="9525">
            <a:noFill/>
            <a:miter lim="800000"/>
            <a:headEnd/>
            <a:tailEnd/>
          </a:ln>
        </p:spPr>
        <p:txBody>
          <a:bodyPr wrap="square">
            <a:spAutoFit/>
          </a:bodyPr>
          <a:lstStyle/>
          <a:p>
            <a:pPr algn="ctr"/>
            <a:r>
              <a:rPr lang="en-US" sz="3300" dirty="0"/>
              <a:t> </a:t>
            </a:r>
            <a:r>
              <a:rPr lang="en-US" sz="3300" b="1" dirty="0">
                <a:solidFill>
                  <a:schemeClr val="bg1"/>
                </a:solidFill>
                <a:latin typeface="Times New Roman" pitchFamily="18" charset="0"/>
                <a:cs typeface="Times New Roman" pitchFamily="18" charset="0"/>
              </a:rPr>
              <a:t>Hybrid CMNV2 model based Masked face detection, recognition, age and gender identification using transfer learning approach and deep learning techniques</a:t>
            </a:r>
            <a:endParaRPr lang="en-IN" sz="3300" b="1" dirty="0">
              <a:solidFill>
                <a:schemeClr val="bg1"/>
              </a:solidFill>
              <a:latin typeface="Times New Roman" pitchFamily="18" charset="0"/>
              <a:cs typeface="Calibri" pitchFamily="34" charset="0"/>
            </a:endParaRPr>
          </a:p>
        </p:txBody>
      </p:sp>
      <p:sp>
        <p:nvSpPr>
          <p:cNvPr id="15" name="TextBox 14"/>
          <p:cNvSpPr txBox="1"/>
          <p:nvPr/>
        </p:nvSpPr>
        <p:spPr>
          <a:xfrm>
            <a:off x="5673725" y="808038"/>
            <a:ext cx="534988" cy="461962"/>
          </a:xfrm>
          <a:prstGeom prst="rect">
            <a:avLst/>
          </a:prstGeom>
          <a:noFill/>
        </p:spPr>
        <p:txBody>
          <a:bodyPr>
            <a:spAutoFit/>
          </a:bodyPr>
          <a:lstStyle/>
          <a:p>
            <a:pPr fontAlgn="auto">
              <a:spcBef>
                <a:spcPts val="0"/>
              </a:spcBef>
              <a:spcAft>
                <a:spcPts val="0"/>
              </a:spcAft>
              <a:defRPr/>
            </a:pPr>
            <a:r>
              <a:rPr lang="en-US" sz="2400" b="1" dirty="0">
                <a:solidFill>
                  <a:srgbClr val="7030A0"/>
                </a:solidFill>
                <a:effectLst>
                  <a:outerShdw blurRad="31750" dist="25400" dir="5400000" algn="tl" rotWithShape="0">
                    <a:srgbClr val="000000">
                      <a:alpha val="25000"/>
                    </a:srgbClr>
                  </a:outerShdw>
                </a:effectLst>
                <a:latin typeface="Times New Roman"/>
                <a:cs typeface="Calibri" pitchFamily="34" charset="0"/>
              </a:rPr>
              <a:t>on</a:t>
            </a:r>
            <a:endParaRPr lang="en-IN" sz="2400" dirty="0">
              <a:solidFill>
                <a:srgbClr val="7030A0"/>
              </a:solidFill>
              <a:latin typeface="+mn-lt"/>
              <a:cs typeface="+mn-cs"/>
            </a:endParaRPr>
          </a:p>
        </p:txBody>
      </p:sp>
      <p:sp>
        <p:nvSpPr>
          <p:cNvPr id="2061" name="Rectangle 11"/>
          <p:cNvSpPr>
            <a:spLocks noChangeArrowheads="1"/>
          </p:cNvSpPr>
          <p:nvPr/>
        </p:nvSpPr>
        <p:spPr bwMode="auto">
          <a:xfrm>
            <a:off x="190500" y="6400800"/>
            <a:ext cx="11534775" cy="339725"/>
          </a:xfrm>
          <a:prstGeom prst="rect">
            <a:avLst/>
          </a:prstGeom>
          <a:noFill/>
          <a:ln w="9525">
            <a:noFill/>
            <a:miter lim="800000"/>
            <a:headEnd/>
            <a:tailEnd/>
          </a:ln>
        </p:spPr>
        <p:txBody>
          <a:bodyPr>
            <a:spAutoFit/>
          </a:bodyPr>
          <a:lstStyle/>
          <a:p>
            <a:pPr algn="ctr"/>
            <a:r>
              <a:rPr lang="en-US" sz="1600" b="1" dirty="0">
                <a:solidFill>
                  <a:schemeClr val="bg1"/>
                </a:solidFill>
                <a:latin typeface="Cambria" pitchFamily="18" charset="0"/>
              </a:rPr>
              <a:t>Date: 08-07-2025			                             			                           1</a:t>
            </a:r>
            <a:endParaRPr lang="en-IN" sz="1600" b="1" dirty="0">
              <a:solidFill>
                <a:schemeClr val="bg1"/>
              </a:solidFill>
              <a:latin typeface="Cambria"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p:cNvSpPr/>
          <p:nvPr/>
        </p:nvSpPr>
        <p:spPr>
          <a:xfrm>
            <a:off x="-68048" y="201153"/>
            <a:ext cx="2196000" cy="540000"/>
          </a:xfrm>
          <a:prstGeom prst="roundRect">
            <a:avLst/>
          </a:prstGeom>
          <a:solidFill>
            <a:schemeClr val="accent2"/>
          </a:solidFill>
          <a:scene3d>
            <a:camera prst="isometricOffAxis1Right"/>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Contents</a:t>
            </a:r>
            <a:endParaRPr lang="en-IN" sz="4000" dirty="0">
              <a:solidFill>
                <a:schemeClr val="bg1"/>
              </a:solidFill>
            </a:endParaRPr>
          </a:p>
        </p:txBody>
      </p:sp>
      <p:sp>
        <p:nvSpPr>
          <p:cNvPr id="24" name="TextBox 23"/>
          <p:cNvSpPr txBox="1"/>
          <p:nvPr/>
        </p:nvSpPr>
        <p:spPr>
          <a:xfrm>
            <a:off x="381000" y="858838"/>
            <a:ext cx="11449050" cy="5508625"/>
          </a:xfrm>
          <a:prstGeom prst="rect">
            <a:avLst/>
          </a:prstGeom>
          <a:noFill/>
        </p:spPr>
        <p:txBody>
          <a:bodyPr>
            <a:spAutoFit/>
          </a:bodyPr>
          <a:lstStyle/>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Aim and Objectives</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Introduction</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Challenges</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CMNV2 model development, advantages and applications  </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Face detection (</a:t>
            </a:r>
            <a:r>
              <a:rPr lang="en-US" altLang="en-US" sz="2300" kern="0" dirty="0">
                <a:solidFill>
                  <a:srgbClr val="0000FF"/>
                </a:solidFill>
                <a:latin typeface="Times New Roman"/>
                <a:cs typeface="+mn-cs"/>
              </a:rPr>
              <a:t>FD</a:t>
            </a:r>
            <a:r>
              <a:rPr lang="en-US" altLang="en-US" sz="2300" kern="0" dirty="0">
                <a:solidFill>
                  <a:srgbClr val="000000"/>
                </a:solidFill>
                <a:latin typeface="Times New Roman"/>
                <a:cs typeface="+mn-cs"/>
              </a:rPr>
              <a:t>) with and without mask </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Masked face age identification (</a:t>
            </a:r>
            <a:r>
              <a:rPr lang="en-US" altLang="en-US" sz="2300" kern="0" dirty="0">
                <a:solidFill>
                  <a:srgbClr val="C00000"/>
                </a:solidFill>
                <a:latin typeface="Times New Roman"/>
                <a:cs typeface="+mn-cs"/>
              </a:rPr>
              <a:t>MFAI</a:t>
            </a:r>
            <a:r>
              <a:rPr lang="en-US" altLang="en-US" sz="2300" kern="0" dirty="0">
                <a:solidFill>
                  <a:srgbClr val="000000"/>
                </a:solidFill>
                <a:latin typeface="Times New Roman"/>
                <a:cs typeface="+mn-cs"/>
              </a:rPr>
              <a:t>)</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Masked face gender identification (</a:t>
            </a:r>
            <a:r>
              <a:rPr lang="en-US" altLang="en-US" sz="2300" kern="0" dirty="0">
                <a:solidFill>
                  <a:srgbClr val="0000FF"/>
                </a:solidFill>
                <a:latin typeface="Times New Roman"/>
                <a:cs typeface="+mn-cs"/>
              </a:rPr>
              <a:t>MFGI</a:t>
            </a:r>
            <a:r>
              <a:rPr lang="en-US" altLang="en-US" sz="2300" kern="0" dirty="0">
                <a:solidFill>
                  <a:srgbClr val="000000"/>
                </a:solidFill>
                <a:latin typeface="Times New Roman"/>
                <a:cs typeface="+mn-cs"/>
              </a:rPr>
              <a:t>)</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Masked face recognition (</a:t>
            </a:r>
            <a:r>
              <a:rPr lang="en-US" altLang="en-US" sz="2300" kern="0" dirty="0">
                <a:solidFill>
                  <a:srgbClr val="C00000"/>
                </a:solidFill>
                <a:latin typeface="Times New Roman"/>
                <a:cs typeface="+mn-cs"/>
              </a:rPr>
              <a:t>MFR</a:t>
            </a:r>
            <a:r>
              <a:rPr lang="en-US" altLang="en-US" sz="2300" kern="0" dirty="0">
                <a:solidFill>
                  <a:srgbClr val="000000"/>
                </a:solidFill>
                <a:latin typeface="Times New Roman"/>
                <a:cs typeface="+mn-cs"/>
              </a:rPr>
              <a:t>)</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Conclusion and Future scope</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List of publications</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References</a:t>
            </a:r>
          </a:p>
        </p:txBody>
      </p:sp>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2</a:t>
            </a:r>
            <a:endParaRPr lang="en-IN" sz="1600" b="1" dirty="0">
              <a:latin typeface="Cambria" pitchFamily="18" charset="0"/>
              <a:ea typeface="Cambr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Box 3"/>
          <p:cNvSpPr txBox="1">
            <a:spLocks noChangeArrowheads="1"/>
          </p:cNvSpPr>
          <p:nvPr/>
        </p:nvSpPr>
        <p:spPr bwMode="auto">
          <a:xfrm>
            <a:off x="365125" y="1450975"/>
            <a:ext cx="976313" cy="461963"/>
          </a:xfrm>
          <a:prstGeom prst="rect">
            <a:avLst/>
          </a:prstGeom>
          <a:noFill/>
          <a:ln w="9525">
            <a:noFill/>
            <a:miter lim="800000"/>
            <a:headEnd/>
            <a:tailEnd/>
          </a:ln>
        </p:spPr>
        <p:txBody>
          <a:bodyPr>
            <a:spAutoFit/>
          </a:bodyPr>
          <a:lstStyle/>
          <a:p>
            <a:r>
              <a:rPr lang="en-US" sz="2400" b="1">
                <a:solidFill>
                  <a:srgbClr val="C00000"/>
                </a:solidFill>
                <a:latin typeface="Times New Roman" pitchFamily="18" charset="0"/>
                <a:cs typeface="Times New Roman" pitchFamily="18" charset="0"/>
              </a:rPr>
              <a:t>Aim: </a:t>
            </a:r>
            <a:endParaRPr lang="en-IN" sz="2400">
              <a:solidFill>
                <a:srgbClr val="C00000"/>
              </a:solidFill>
              <a:latin typeface="Calibri" pitchFamily="34" charset="0"/>
            </a:endParaRPr>
          </a:p>
        </p:txBody>
      </p:sp>
      <p:sp>
        <p:nvSpPr>
          <p:cNvPr id="4100" name="TextBox 4"/>
          <p:cNvSpPr txBox="1">
            <a:spLocks noChangeArrowheads="1"/>
          </p:cNvSpPr>
          <p:nvPr/>
        </p:nvSpPr>
        <p:spPr bwMode="auto">
          <a:xfrm>
            <a:off x="393700" y="3821113"/>
            <a:ext cx="1587500" cy="461962"/>
          </a:xfrm>
          <a:prstGeom prst="rect">
            <a:avLst/>
          </a:prstGeom>
          <a:noFill/>
          <a:ln w="9525">
            <a:noFill/>
            <a:miter lim="800000"/>
            <a:headEnd/>
            <a:tailEnd/>
          </a:ln>
        </p:spPr>
        <p:txBody>
          <a:bodyPr>
            <a:spAutoFit/>
          </a:bodyPr>
          <a:lstStyle/>
          <a:p>
            <a:r>
              <a:rPr lang="en-US" sz="2400" b="1">
                <a:solidFill>
                  <a:srgbClr val="2C78B6"/>
                </a:solidFill>
                <a:latin typeface="Times New Roman" pitchFamily="18" charset="0"/>
                <a:cs typeface="Times New Roman" pitchFamily="18" charset="0"/>
              </a:rPr>
              <a:t>Chapters :</a:t>
            </a:r>
            <a:endParaRPr lang="en-IN" sz="2400">
              <a:solidFill>
                <a:srgbClr val="2C78B6"/>
              </a:solidFill>
              <a:latin typeface="Calibri" pitchFamily="34" charset="0"/>
            </a:endParaRPr>
          </a:p>
        </p:txBody>
      </p:sp>
      <p:sp>
        <p:nvSpPr>
          <p:cNvPr id="4101" name="TextBox 6"/>
          <p:cNvSpPr txBox="1">
            <a:spLocks noChangeArrowheads="1"/>
          </p:cNvSpPr>
          <p:nvPr/>
        </p:nvSpPr>
        <p:spPr bwMode="auto">
          <a:xfrm>
            <a:off x="314325" y="1933575"/>
            <a:ext cx="11410950" cy="1477963"/>
          </a:xfrm>
          <a:prstGeom prst="rect">
            <a:avLst/>
          </a:prstGeom>
          <a:noFill/>
          <a:ln w="9525">
            <a:noFill/>
            <a:miter lim="800000"/>
            <a:headEnd/>
            <a:tailEnd/>
          </a:ln>
        </p:spPr>
        <p:txBody>
          <a:bodyPr>
            <a:spAutoFit/>
          </a:bodyPr>
          <a:lstStyle/>
          <a:p>
            <a:pPr marL="285750" indent="-285750" algn="just">
              <a:lnSpc>
                <a:spcPct val="150000"/>
              </a:lnSpc>
              <a:spcAft>
                <a:spcPts val="1200"/>
              </a:spcAft>
              <a:buFont typeface="Arial" pitchFamily="34" charset="0"/>
              <a:buChar char="•"/>
            </a:pPr>
            <a:r>
              <a:rPr lang="en-US" sz="2000" dirty="0">
                <a:latin typeface="Times New Roman" pitchFamily="18" charset="0"/>
                <a:cs typeface="Times New Roman" pitchFamily="18" charset="0"/>
              </a:rPr>
              <a:t>To design and develop a model for masked face detection, recognition, age and gender identification of photo and real-time video images by CMNV2 model using transfer learning approach and deep learning techniques.</a:t>
            </a:r>
          </a:p>
        </p:txBody>
      </p:sp>
      <p:sp>
        <p:nvSpPr>
          <p:cNvPr id="4102" name="TextBox 7"/>
          <p:cNvSpPr txBox="1">
            <a:spLocks noChangeArrowheads="1"/>
          </p:cNvSpPr>
          <p:nvPr/>
        </p:nvSpPr>
        <p:spPr bwMode="auto">
          <a:xfrm>
            <a:off x="538163" y="4387850"/>
            <a:ext cx="11483791" cy="1785104"/>
          </a:xfrm>
          <a:prstGeom prst="rect">
            <a:avLst/>
          </a:prstGeom>
          <a:noFill/>
          <a:ln w="9525">
            <a:noFill/>
            <a:miter lim="800000"/>
            <a:headEnd/>
            <a:tailEnd/>
          </a:ln>
        </p:spPr>
        <p:txBody>
          <a:bodyPr wrap="square">
            <a:spAutoFit/>
          </a:bodyPr>
          <a:lstStyle/>
          <a:p>
            <a:pPr marL="285750" indent="-285750" algn="just">
              <a:spcAft>
                <a:spcPts val="1200"/>
              </a:spcAft>
              <a:buFont typeface="Arial" pitchFamily="34" charset="0"/>
              <a:buChar char="•"/>
            </a:pPr>
            <a:r>
              <a:rPr lang="en-US" sz="2000" dirty="0">
                <a:latin typeface="Times New Roman" pitchFamily="18" charset="0"/>
                <a:cs typeface="Times New Roman" pitchFamily="18" charset="0"/>
              </a:rPr>
              <a:t>To perform face detection (</a:t>
            </a:r>
            <a:r>
              <a:rPr lang="en-US" sz="2000" dirty="0">
                <a:solidFill>
                  <a:srgbClr val="0000FF"/>
                </a:solidFill>
                <a:latin typeface="Times New Roman" pitchFamily="18" charset="0"/>
                <a:cs typeface="Times New Roman" pitchFamily="18" charset="0"/>
              </a:rPr>
              <a:t>FD</a:t>
            </a:r>
            <a:r>
              <a:rPr lang="en-US" sz="2000" dirty="0">
                <a:latin typeface="Times New Roman" pitchFamily="18" charset="0"/>
                <a:cs typeface="Times New Roman" pitchFamily="18" charset="0"/>
              </a:rPr>
              <a:t>) with and without mask</a:t>
            </a:r>
            <a:r>
              <a:rPr lang="en-US" sz="2000" dirty="0">
                <a:solidFill>
                  <a:srgbClr val="000000"/>
                </a:solidFill>
                <a:latin typeface="Times New Roman" pitchFamily="18" charset="0"/>
                <a:ea typeface="PMingLiU"/>
                <a:cs typeface="PMingLiU"/>
              </a:rPr>
              <a:t>.     ----------------   </a:t>
            </a:r>
            <a:r>
              <a:rPr lang="en-US" sz="2000" b="1" dirty="0">
                <a:solidFill>
                  <a:srgbClr val="0000FF"/>
                </a:solidFill>
                <a:latin typeface="Times New Roman" pitchFamily="18" charset="0"/>
                <a:ea typeface="PMingLiU"/>
                <a:cs typeface="PMingLiU"/>
              </a:rPr>
              <a:t>( 1</a:t>
            </a:r>
            <a:r>
              <a:rPr lang="en-US" sz="2000" b="1" baseline="30000" dirty="0">
                <a:solidFill>
                  <a:srgbClr val="0000FF"/>
                </a:solidFill>
                <a:latin typeface="Times New Roman" pitchFamily="18" charset="0"/>
                <a:ea typeface="PMingLiU"/>
                <a:cs typeface="PMingLiU"/>
              </a:rPr>
              <a:t>st</a:t>
            </a:r>
            <a:r>
              <a:rPr lang="en-US" sz="2000" b="1" dirty="0">
                <a:solidFill>
                  <a:srgbClr val="0000FF"/>
                </a:solidFill>
                <a:latin typeface="Times New Roman" pitchFamily="18" charset="0"/>
                <a:ea typeface="PMingLiU"/>
                <a:cs typeface="PMingLiU"/>
              </a:rPr>
              <a:t> Objective ) ------ 2 Classes</a:t>
            </a:r>
          </a:p>
          <a:p>
            <a:pPr marL="285750" indent="-285750" algn="just">
              <a:spcAft>
                <a:spcPts val="1200"/>
              </a:spcAft>
              <a:buFont typeface="Arial" pitchFamily="34" charset="0"/>
              <a:buChar char="•"/>
            </a:pPr>
            <a:r>
              <a:rPr lang="en-US" sz="2000" dirty="0">
                <a:latin typeface="Times New Roman" pitchFamily="18" charset="0"/>
                <a:cs typeface="Times New Roman" pitchFamily="18" charset="0"/>
              </a:rPr>
              <a:t>To perform masked face age identification (</a:t>
            </a:r>
            <a:r>
              <a:rPr lang="en-US" sz="2000" dirty="0">
                <a:solidFill>
                  <a:srgbClr val="0000FF"/>
                </a:solidFill>
                <a:latin typeface="Times New Roman" pitchFamily="18" charset="0"/>
                <a:cs typeface="Times New Roman" pitchFamily="18" charset="0"/>
              </a:rPr>
              <a:t>MFAI</a:t>
            </a:r>
            <a:r>
              <a:rPr lang="en-US" sz="2000" dirty="0">
                <a:latin typeface="Times New Roman" pitchFamily="18" charset="0"/>
                <a:cs typeface="Times New Roman" pitchFamily="18" charset="0"/>
              </a:rPr>
              <a:t>)</a:t>
            </a:r>
            <a:r>
              <a:rPr lang="en-US" sz="2000" dirty="0">
                <a:solidFill>
                  <a:srgbClr val="000000"/>
                </a:solidFill>
                <a:latin typeface="Times New Roman" pitchFamily="18" charset="0"/>
                <a:ea typeface="PMingLiU"/>
                <a:cs typeface="PMingLiU"/>
              </a:rPr>
              <a:t>.            </a:t>
            </a:r>
            <a:r>
              <a:rPr lang="en-US" sz="2000" dirty="0">
                <a:solidFill>
                  <a:srgbClr val="FF0000"/>
                </a:solidFill>
                <a:latin typeface="Times New Roman" pitchFamily="18" charset="0"/>
                <a:ea typeface="PMingLiU"/>
                <a:cs typeface="PMingLiU"/>
              </a:rPr>
              <a:t>----------------</a:t>
            </a:r>
            <a:r>
              <a:rPr lang="en-US" sz="2000" dirty="0">
                <a:solidFill>
                  <a:srgbClr val="000000"/>
                </a:solidFill>
                <a:latin typeface="Times New Roman" pitchFamily="18" charset="0"/>
                <a:ea typeface="PMingLiU"/>
                <a:cs typeface="PMingLiU"/>
              </a:rPr>
              <a:t> </a:t>
            </a:r>
            <a:r>
              <a:rPr lang="en-US" sz="2000" dirty="0">
                <a:solidFill>
                  <a:srgbClr val="C00000"/>
                </a:solidFill>
                <a:latin typeface="Times New Roman" pitchFamily="18" charset="0"/>
                <a:ea typeface="PMingLiU"/>
                <a:cs typeface="PMingLiU"/>
              </a:rPr>
              <a:t> </a:t>
            </a:r>
            <a:r>
              <a:rPr lang="en-US" sz="2000" b="1" dirty="0">
                <a:solidFill>
                  <a:srgbClr val="C00000"/>
                </a:solidFill>
                <a:latin typeface="Times New Roman" pitchFamily="18" charset="0"/>
                <a:ea typeface="PMingLiU"/>
                <a:cs typeface="PMingLiU"/>
              </a:rPr>
              <a:t>( 2</a:t>
            </a:r>
            <a:r>
              <a:rPr lang="en-US" sz="2000" b="1" baseline="30000" dirty="0">
                <a:solidFill>
                  <a:srgbClr val="C00000"/>
                </a:solidFill>
                <a:latin typeface="Times New Roman" pitchFamily="18" charset="0"/>
                <a:ea typeface="PMingLiU"/>
                <a:cs typeface="PMingLiU"/>
              </a:rPr>
              <a:t>nd</a:t>
            </a:r>
            <a:r>
              <a:rPr lang="en-US" sz="2000" b="1" dirty="0">
                <a:solidFill>
                  <a:srgbClr val="C00000"/>
                </a:solidFill>
                <a:latin typeface="Times New Roman" pitchFamily="18" charset="0"/>
                <a:ea typeface="PMingLiU"/>
                <a:cs typeface="PMingLiU"/>
              </a:rPr>
              <a:t> Objective )</a:t>
            </a:r>
          </a:p>
          <a:p>
            <a:pPr marL="285750" indent="-285750" algn="just">
              <a:spcAft>
                <a:spcPts val="1200"/>
              </a:spcAft>
              <a:buFont typeface="Arial" pitchFamily="34" charset="0"/>
              <a:buChar char="•"/>
            </a:pPr>
            <a:r>
              <a:rPr lang="en-US" sz="2000" dirty="0">
                <a:latin typeface="Times New Roman" pitchFamily="18" charset="0"/>
                <a:cs typeface="Times New Roman" pitchFamily="18" charset="0"/>
              </a:rPr>
              <a:t>To perform masked face gender identification (</a:t>
            </a:r>
            <a:r>
              <a:rPr lang="en-US" sz="2000" dirty="0">
                <a:solidFill>
                  <a:srgbClr val="0000FF"/>
                </a:solidFill>
                <a:latin typeface="Times New Roman" pitchFamily="18" charset="0"/>
                <a:cs typeface="Times New Roman" pitchFamily="18" charset="0"/>
              </a:rPr>
              <a:t>MFGI</a:t>
            </a:r>
            <a:r>
              <a:rPr lang="en-US" sz="2000" dirty="0">
                <a:latin typeface="Times New Roman" pitchFamily="18" charset="0"/>
                <a:cs typeface="Times New Roman" pitchFamily="18" charset="0"/>
              </a:rPr>
              <a:t>)</a:t>
            </a:r>
            <a:r>
              <a:rPr lang="en-US" sz="2000" dirty="0">
                <a:solidFill>
                  <a:srgbClr val="000000"/>
                </a:solidFill>
                <a:latin typeface="Times New Roman" pitchFamily="18" charset="0"/>
                <a:ea typeface="PMingLiU"/>
                <a:cs typeface="PMingLiU"/>
              </a:rPr>
              <a:t>.      </a:t>
            </a:r>
            <a:r>
              <a:rPr lang="en-US" sz="2000" dirty="0">
                <a:solidFill>
                  <a:srgbClr val="FF0000"/>
                </a:solidFill>
                <a:latin typeface="Times New Roman" pitchFamily="18" charset="0"/>
                <a:ea typeface="PMingLiU"/>
                <a:cs typeface="PMingLiU"/>
              </a:rPr>
              <a:t>----------------</a:t>
            </a:r>
            <a:r>
              <a:rPr lang="en-US" sz="2000" b="1" dirty="0">
                <a:solidFill>
                  <a:srgbClr val="000000"/>
                </a:solidFill>
                <a:latin typeface="Times New Roman" pitchFamily="18" charset="0"/>
                <a:ea typeface="PMingLiU"/>
                <a:cs typeface="PMingLiU"/>
              </a:rPr>
              <a:t>   </a:t>
            </a:r>
            <a:r>
              <a:rPr lang="en-US" sz="2000" b="1" dirty="0">
                <a:solidFill>
                  <a:srgbClr val="C00000"/>
                </a:solidFill>
                <a:latin typeface="Times New Roman" pitchFamily="18" charset="0"/>
                <a:ea typeface="PMingLiU"/>
                <a:cs typeface="PMingLiU"/>
              </a:rPr>
              <a:t>( 3</a:t>
            </a:r>
            <a:r>
              <a:rPr lang="en-US" sz="2000" b="1" baseline="30000" dirty="0">
                <a:solidFill>
                  <a:srgbClr val="C00000"/>
                </a:solidFill>
                <a:latin typeface="Times New Roman" pitchFamily="18" charset="0"/>
                <a:ea typeface="PMingLiU"/>
                <a:cs typeface="PMingLiU"/>
              </a:rPr>
              <a:t>rd</a:t>
            </a:r>
            <a:r>
              <a:rPr lang="en-US" sz="2000" b="1" dirty="0">
                <a:solidFill>
                  <a:srgbClr val="C00000"/>
                </a:solidFill>
                <a:latin typeface="Times New Roman" pitchFamily="18" charset="0"/>
                <a:ea typeface="PMingLiU"/>
                <a:cs typeface="PMingLiU"/>
              </a:rPr>
              <a:t> Objective ) </a:t>
            </a:r>
            <a:r>
              <a:rPr lang="en-US" sz="2000" b="1" dirty="0">
                <a:latin typeface="Times New Roman" pitchFamily="18" charset="0"/>
                <a:ea typeface="PMingLiU"/>
                <a:cs typeface="PMingLiU"/>
              </a:rPr>
              <a:t>------ 16 Classes</a:t>
            </a:r>
          </a:p>
          <a:p>
            <a:pPr marL="285750" indent="-285750" algn="just">
              <a:spcAft>
                <a:spcPts val="1200"/>
              </a:spcAft>
              <a:buFont typeface="Arial" pitchFamily="34" charset="0"/>
              <a:buChar char="•"/>
            </a:pPr>
            <a:r>
              <a:rPr lang="en-US" sz="2000" dirty="0">
                <a:latin typeface="Times New Roman" pitchFamily="18" charset="0"/>
                <a:cs typeface="Times New Roman" pitchFamily="18" charset="0"/>
              </a:rPr>
              <a:t>To perform masked face recognition (</a:t>
            </a:r>
            <a:r>
              <a:rPr lang="en-US" sz="2000" dirty="0">
                <a:solidFill>
                  <a:srgbClr val="0000FF"/>
                </a:solidFill>
                <a:latin typeface="Times New Roman" pitchFamily="18" charset="0"/>
                <a:cs typeface="Times New Roman" pitchFamily="18" charset="0"/>
              </a:rPr>
              <a:t>MFR</a:t>
            </a:r>
            <a:r>
              <a:rPr lang="en-US" sz="2000" dirty="0">
                <a:latin typeface="Times New Roman" pitchFamily="18" charset="0"/>
                <a:cs typeface="Times New Roman" pitchFamily="18" charset="0"/>
              </a:rPr>
              <a:t>)</a:t>
            </a:r>
            <a:r>
              <a:rPr lang="en-US" sz="2000" dirty="0">
                <a:solidFill>
                  <a:srgbClr val="000000"/>
                </a:solidFill>
                <a:latin typeface="Times New Roman" pitchFamily="18" charset="0"/>
                <a:ea typeface="PMingLiU"/>
                <a:cs typeface="PMingLiU"/>
              </a:rPr>
              <a:t>.	            ---------------- </a:t>
            </a:r>
            <a:r>
              <a:rPr lang="en-US" sz="2000" b="1" dirty="0">
                <a:solidFill>
                  <a:srgbClr val="0000FF"/>
                </a:solidFill>
                <a:latin typeface="Times New Roman" pitchFamily="18" charset="0"/>
                <a:ea typeface="PMingLiU"/>
                <a:cs typeface="PMingLiU"/>
              </a:rPr>
              <a:t>  ( 4</a:t>
            </a:r>
            <a:r>
              <a:rPr lang="en-US" sz="2000" b="1" baseline="30000" dirty="0">
                <a:solidFill>
                  <a:srgbClr val="0000FF"/>
                </a:solidFill>
                <a:latin typeface="Times New Roman" pitchFamily="18" charset="0"/>
                <a:ea typeface="PMingLiU"/>
                <a:cs typeface="PMingLiU"/>
              </a:rPr>
              <a:t>th</a:t>
            </a:r>
            <a:r>
              <a:rPr lang="en-US" sz="2000" b="1" dirty="0">
                <a:solidFill>
                  <a:srgbClr val="0000FF"/>
                </a:solidFill>
                <a:latin typeface="Times New Roman" pitchFamily="18" charset="0"/>
                <a:ea typeface="PMingLiU"/>
                <a:cs typeface="PMingLiU"/>
              </a:rPr>
              <a:t> Objective ) ------ 10 Classes</a:t>
            </a:r>
          </a:p>
        </p:txBody>
      </p:sp>
      <p:sp>
        <p:nvSpPr>
          <p:cNvPr id="8" name="Right Brace 7"/>
          <p:cNvSpPr/>
          <p:nvPr/>
        </p:nvSpPr>
        <p:spPr>
          <a:xfrm>
            <a:off x="6543675" y="4962525"/>
            <a:ext cx="317500" cy="609600"/>
          </a:xfrm>
          <a:prstGeom prst="rightBrac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ln>
                <a:solidFill>
                  <a:srgbClr val="FF0000"/>
                </a:solidFill>
              </a:ln>
            </a:endParaRPr>
          </a:p>
        </p:txBody>
      </p:sp>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3</a:t>
            </a:r>
            <a:endParaRPr lang="en-IN" sz="1600" b="1" dirty="0">
              <a:latin typeface="Cambria" pitchFamily="18" charset="0"/>
              <a:ea typeface="Cambria" pitchFamily="18" charset="0"/>
            </a:endParaRPr>
          </a:p>
        </p:txBody>
      </p:sp>
      <p:sp>
        <p:nvSpPr>
          <p:cNvPr id="11" name="Rectangle: Rounded Corners 4"/>
          <p:cNvSpPr/>
          <p:nvPr/>
        </p:nvSpPr>
        <p:spPr>
          <a:xfrm>
            <a:off x="-28575" y="286879"/>
            <a:ext cx="3744000" cy="684000"/>
          </a:xfrm>
          <a:prstGeom prst="roundRect">
            <a:avLst/>
          </a:prstGeom>
          <a:solidFill>
            <a:schemeClr val="accent2"/>
          </a:solidFill>
          <a:scene3d>
            <a:camera prst="isometricOffAxis1Right">
              <a:rot lat="120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Aim</a:t>
            </a:r>
            <a:r>
              <a:rPr lang="en-US" altLang="en-US" sz="32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 and Objective</a:t>
            </a:r>
            <a:endParaRPr lang="en-IN"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6"/>
          <p:cNvSpPr txBox="1">
            <a:spLocks noChangeArrowheads="1"/>
          </p:cNvSpPr>
          <p:nvPr/>
        </p:nvSpPr>
        <p:spPr bwMode="auto">
          <a:xfrm>
            <a:off x="190500" y="981075"/>
            <a:ext cx="11658600" cy="5170646"/>
          </a:xfrm>
          <a:prstGeom prst="rect">
            <a:avLst/>
          </a:prstGeom>
          <a:noFill/>
          <a:ln w="9525">
            <a:noFill/>
            <a:miter lim="800000"/>
            <a:headEnd/>
            <a:tailEnd/>
          </a:ln>
        </p:spPr>
        <p:txBody>
          <a:bodyPr>
            <a:spAutoFit/>
          </a:bodyPr>
          <a:lstStyle/>
          <a:p>
            <a:pPr marL="285750" indent="-285750" algn="just">
              <a:lnSpc>
                <a:spcPct val="150000"/>
              </a:lnSpc>
              <a:spcAft>
                <a:spcPts val="1200"/>
              </a:spcAft>
              <a:buFont typeface="Arial" pitchFamily="34" charset="0"/>
              <a:buChar char="•"/>
            </a:pPr>
            <a:r>
              <a:rPr lang="en-US" sz="2000" dirty="0">
                <a:latin typeface="Times New Roman" pitchFamily="18" charset="0"/>
                <a:cs typeface="Times New Roman" pitchFamily="18" charset="0"/>
              </a:rPr>
              <a:t>Masked face detection, recognition, age, and gender identification are crucial components of advanced computer vision systems.</a:t>
            </a:r>
          </a:p>
          <a:p>
            <a:pPr marL="285750" indent="-285750" algn="just">
              <a:lnSpc>
                <a:spcPct val="150000"/>
              </a:lnSpc>
              <a:spcAft>
                <a:spcPts val="1200"/>
              </a:spcAft>
              <a:buFont typeface="Arial" pitchFamily="34" charset="0"/>
              <a:buChar char="•"/>
            </a:pPr>
            <a:r>
              <a:rPr lang="en-US" sz="2000" dirty="0">
                <a:latin typeface="Times New Roman" pitchFamily="18" charset="0"/>
                <a:cs typeface="Times New Roman" pitchFamily="18" charset="0"/>
              </a:rPr>
              <a:t>It is the process of determining and verifying an individual based on their facial features, can be done with or without a mask.</a:t>
            </a:r>
          </a:p>
          <a:p>
            <a:pPr marL="285750" indent="-285750" algn="just">
              <a:lnSpc>
                <a:spcPct val="150000"/>
              </a:lnSpc>
              <a:spcAft>
                <a:spcPts val="1200"/>
              </a:spcAft>
              <a:buFont typeface="Arial" pitchFamily="34" charset="0"/>
              <a:buChar char="•"/>
            </a:pPr>
            <a:r>
              <a:rPr lang="en-US" sz="2000" dirty="0">
                <a:latin typeface="Times New Roman" pitchFamily="18" charset="0"/>
                <a:cs typeface="Times New Roman" pitchFamily="18" charset="0"/>
              </a:rPr>
              <a:t>Analyzing masked faces with image processing techniques and deep learning models to accurately pinpoint faces even when partially occluded by masks.</a:t>
            </a:r>
          </a:p>
          <a:p>
            <a:pPr algn="just">
              <a:lnSpc>
                <a:spcPct val="150000"/>
              </a:lnSpc>
              <a:buFont typeface="Arial" pitchFamily="34" charset="0"/>
              <a:buChar char="•"/>
            </a:pPr>
            <a:r>
              <a:rPr lang="en-US" sz="2000" dirty="0">
                <a:latin typeface="Times New Roman" pitchFamily="18" charset="0"/>
                <a:cs typeface="Times New Roman" pitchFamily="18" charset="0"/>
              </a:rPr>
              <a:t>    The COVID-19 epidemic has increased the requirement for people to use protective face masks in public  </a:t>
            </a:r>
          </a:p>
          <a:p>
            <a:pPr algn="just">
              <a:lnSpc>
                <a:spcPct val="150000"/>
              </a:lnSpc>
            </a:pPr>
            <a:r>
              <a:rPr lang="en-US" sz="2000" dirty="0">
                <a:latin typeface="Times New Roman" pitchFamily="18" charset="0"/>
                <a:cs typeface="Times New Roman" pitchFamily="18" charset="0"/>
              </a:rPr>
              <a:t>      places.</a:t>
            </a:r>
          </a:p>
          <a:p>
            <a:pPr algn="just">
              <a:lnSpc>
                <a:spcPct val="150000"/>
              </a:lnSpc>
              <a:buFont typeface="Arial" pitchFamily="34" charset="0"/>
              <a:buChar char="•"/>
            </a:pPr>
            <a:r>
              <a:rPr lang="en-US" sz="2000" dirty="0">
                <a:latin typeface="Times New Roman" pitchFamily="18" charset="0"/>
                <a:cs typeface="Times New Roman" pitchFamily="18" charset="0"/>
              </a:rPr>
              <a:t>    Computer-based masked-face detection belongs in the category of biometrics, since it includes using a   </a:t>
            </a:r>
          </a:p>
          <a:p>
            <a:pPr algn="just">
              <a:lnSpc>
                <a:spcPct val="150000"/>
              </a:lnSpc>
            </a:pPr>
            <a:r>
              <a:rPr lang="en-US" sz="2000" dirty="0">
                <a:latin typeface="Times New Roman" pitchFamily="18" charset="0"/>
                <a:cs typeface="Times New Roman" pitchFamily="18" charset="0"/>
              </a:rPr>
              <a:t>      person’s unique features to identify them with a mask on.</a:t>
            </a:r>
          </a:p>
        </p:txBody>
      </p:sp>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4</a:t>
            </a:r>
            <a:endParaRPr lang="en-IN" sz="1600" b="1" dirty="0">
              <a:latin typeface="Cambria" pitchFamily="18" charset="0"/>
              <a:ea typeface="Cambria" pitchFamily="18" charset="0"/>
            </a:endParaRPr>
          </a:p>
        </p:txBody>
      </p:sp>
      <p:sp>
        <p:nvSpPr>
          <p:cNvPr id="11" name="Rectangle: Rounded Corners 4"/>
          <p:cNvSpPr/>
          <p:nvPr/>
        </p:nvSpPr>
        <p:spPr>
          <a:xfrm>
            <a:off x="-9526" y="258303"/>
            <a:ext cx="3024000" cy="540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Introduction</a:t>
            </a:r>
            <a:endParaRPr lang="en-IN" sz="40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Box 6"/>
          <p:cNvSpPr txBox="1">
            <a:spLocks noChangeArrowheads="1"/>
          </p:cNvSpPr>
          <p:nvPr/>
        </p:nvSpPr>
        <p:spPr bwMode="auto">
          <a:xfrm>
            <a:off x="190500" y="1180902"/>
            <a:ext cx="11830050" cy="4708981"/>
          </a:xfrm>
          <a:prstGeom prst="rect">
            <a:avLst/>
          </a:prstGeom>
          <a:noFill/>
          <a:ln w="9525">
            <a:noFill/>
            <a:miter lim="800000"/>
            <a:headEnd/>
            <a:tailEnd/>
          </a:ln>
        </p:spPr>
        <p:txBody>
          <a:bodyPr wrap="square">
            <a:spAutoFit/>
          </a:bodyPr>
          <a:lstStyle/>
          <a:p>
            <a:pPr algn="just">
              <a:lnSpc>
                <a:spcPct val="150000"/>
              </a:lnSpc>
              <a:buFont typeface="Arial" pitchFamily="34" charset="0"/>
              <a:buChar char="•"/>
            </a:pPr>
            <a:r>
              <a:rPr lang="en-US" sz="2000" dirty="0">
                <a:latin typeface="Times New Roman" pitchFamily="18" charset="0"/>
                <a:cs typeface="Times New Roman" pitchFamily="18" charset="0"/>
              </a:rPr>
              <a:t>  Object classification in image processing aims to detect all different shapes and </a:t>
            </a:r>
            <a:r>
              <a:rPr lang="en-US" sz="2000" dirty="0" err="1">
                <a:latin typeface="Times New Roman" pitchFamily="18" charset="0"/>
                <a:cs typeface="Times New Roman" pitchFamily="18" charset="0"/>
              </a:rPr>
              <a:t>colours</a:t>
            </a:r>
            <a:r>
              <a:rPr lang="en-US" sz="2000" dirty="0">
                <a:latin typeface="Times New Roman" pitchFamily="18" charset="0"/>
                <a:cs typeface="Times New Roman" pitchFamily="18" charset="0"/>
              </a:rPr>
              <a:t> of objects present in    </a:t>
            </a:r>
          </a:p>
          <a:p>
            <a:pPr algn="just">
              <a:lnSpc>
                <a:spcPct val="150000"/>
              </a:lnSpc>
            </a:pPr>
            <a:r>
              <a:rPr lang="en-US" sz="2000" dirty="0">
                <a:latin typeface="Times New Roman" pitchFamily="18" charset="0"/>
                <a:cs typeface="Times New Roman" pitchFamily="18" charset="0"/>
              </a:rPr>
              <a:t>   images and classify them into the appropriate classes.</a:t>
            </a:r>
          </a:p>
          <a:p>
            <a:pPr algn="just">
              <a:lnSpc>
                <a:spcPct val="150000"/>
              </a:lnSpc>
              <a:buFont typeface="Arial" pitchFamily="34" charset="0"/>
              <a:buChar char="•"/>
            </a:pPr>
            <a:r>
              <a:rPr lang="en-US" sz="2000" dirty="0">
                <a:latin typeface="Times New Roman" pitchFamily="18" charset="0"/>
                <a:cs typeface="Times New Roman" pitchFamily="18" charset="0"/>
              </a:rPr>
              <a:t>  Analysis of face detection technology is crucial with blocked faces, which typically have visibility only in the  </a:t>
            </a:r>
          </a:p>
          <a:p>
            <a:pPr algn="just">
              <a:lnSpc>
                <a:spcPct val="150000"/>
              </a:lnSpc>
            </a:pPr>
            <a:r>
              <a:rPr lang="en-US" sz="2000" dirty="0">
                <a:latin typeface="Times New Roman" pitchFamily="18" charset="0"/>
                <a:cs typeface="Times New Roman" pitchFamily="18" charset="0"/>
              </a:rPr>
              <a:t>  periocular area and above.</a:t>
            </a:r>
          </a:p>
          <a:p>
            <a:pPr algn="just">
              <a:lnSpc>
                <a:spcPct val="150000"/>
              </a:lnSpc>
              <a:buFont typeface="Arial" pitchFamily="34" charset="0"/>
              <a:buChar char="•"/>
            </a:pPr>
            <a:r>
              <a:rPr lang="en-US" sz="2000">
                <a:latin typeface="Times New Roman" pitchFamily="18" charset="0"/>
                <a:cs typeface="Times New Roman" pitchFamily="18" charset="0"/>
              </a:rPr>
              <a:t>  Face </a:t>
            </a:r>
            <a:r>
              <a:rPr lang="en-US" sz="2000" dirty="0">
                <a:latin typeface="Times New Roman" pitchFamily="18" charset="0"/>
                <a:cs typeface="Times New Roman" pitchFamily="18" charset="0"/>
              </a:rPr>
              <a:t>detection systems have generally been used primarily for non-masked faces, which include relevant facial </a:t>
            </a:r>
          </a:p>
          <a:p>
            <a:pPr algn="just">
              <a:lnSpc>
                <a:spcPct val="150000"/>
              </a:lnSpc>
            </a:pPr>
            <a:r>
              <a:rPr lang="en-US" sz="2000" dirty="0">
                <a:latin typeface="Times New Roman" pitchFamily="18" charset="0"/>
                <a:cs typeface="Times New Roman" pitchFamily="18" charset="0"/>
              </a:rPr>
              <a:t>  characteristics such as the ears, chin, lips, nose, forehead and eyes. </a:t>
            </a:r>
          </a:p>
          <a:p>
            <a:pPr algn="just">
              <a:lnSpc>
                <a:spcPct val="150000"/>
              </a:lnSpc>
              <a:spcAft>
                <a:spcPts val="0"/>
              </a:spcAft>
              <a:buFont typeface="Arial" pitchFamily="34" charset="0"/>
              <a:buChar char="•"/>
            </a:pPr>
            <a:r>
              <a:rPr lang="en-US" sz="2000" dirty="0">
                <a:latin typeface="Times New Roman" pitchFamily="18" charset="0"/>
                <a:cs typeface="Times New Roman" pitchFamily="18" charset="0"/>
              </a:rPr>
              <a:t>  Transfer learning, classification, detection, and prediction are fundamental components in the area of deep </a:t>
            </a:r>
          </a:p>
          <a:p>
            <a:pPr algn="just">
              <a:lnSpc>
                <a:spcPct val="150000"/>
              </a:lnSpc>
              <a:spcAft>
                <a:spcPts val="0"/>
              </a:spcAft>
            </a:pPr>
            <a:r>
              <a:rPr lang="en-US" sz="2000" dirty="0">
                <a:latin typeface="Times New Roman" pitchFamily="18" charset="0"/>
                <a:cs typeface="Times New Roman" pitchFamily="18" charset="0"/>
              </a:rPr>
              <a:t>    learning, machine learning and computer vision, each playing a distinct role in various applications.</a:t>
            </a:r>
          </a:p>
          <a:p>
            <a:pPr algn="just">
              <a:lnSpc>
                <a:spcPct val="150000"/>
              </a:lnSpc>
              <a:spcAft>
                <a:spcPts val="0"/>
              </a:spcAft>
              <a:buFont typeface="Arial" pitchFamily="34" charset="0"/>
              <a:buChar char="•"/>
            </a:pPr>
            <a:r>
              <a:rPr lang="en-US" sz="2000" dirty="0">
                <a:latin typeface="Times New Roman" pitchFamily="18" charset="0"/>
                <a:cs typeface="Times New Roman" pitchFamily="18" charset="0"/>
              </a:rPr>
              <a:t>  Transfer learning involves leveraging knowledge gained from one task or domain and applying it to another </a:t>
            </a:r>
          </a:p>
          <a:p>
            <a:pPr algn="just">
              <a:lnSpc>
                <a:spcPct val="150000"/>
              </a:lnSpc>
              <a:spcAft>
                <a:spcPts val="0"/>
              </a:spcAft>
            </a:pPr>
            <a:r>
              <a:rPr lang="en-US" sz="2000" dirty="0">
                <a:latin typeface="Times New Roman" pitchFamily="18" charset="0"/>
                <a:cs typeface="Times New Roman" pitchFamily="18" charset="0"/>
              </a:rPr>
              <a:t>    related task or domain.</a:t>
            </a:r>
          </a:p>
        </p:txBody>
      </p:sp>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5</a:t>
            </a:r>
            <a:endParaRPr lang="en-IN" sz="1600" b="1" dirty="0">
              <a:latin typeface="Cambria" pitchFamily="18" charset="0"/>
              <a:ea typeface="Cambria" pitchFamily="18" charset="0"/>
            </a:endParaRPr>
          </a:p>
        </p:txBody>
      </p:sp>
      <p:sp>
        <p:nvSpPr>
          <p:cNvPr id="11" name="Rectangle: Rounded Corners 4"/>
          <p:cNvSpPr/>
          <p:nvPr/>
        </p:nvSpPr>
        <p:spPr>
          <a:xfrm>
            <a:off x="-9525" y="258303"/>
            <a:ext cx="3024000" cy="540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Introduction</a:t>
            </a:r>
            <a:endParaRPr lang="en-IN" sz="40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p:cNvSpPr/>
          <p:nvPr/>
        </p:nvSpPr>
        <p:spPr>
          <a:xfrm>
            <a:off x="-48997" y="220203"/>
            <a:ext cx="2628000" cy="648000"/>
          </a:xfrm>
          <a:prstGeom prst="roundRect">
            <a:avLst/>
          </a:prstGeom>
          <a:solidFill>
            <a:schemeClr val="accent2"/>
          </a:solidFill>
          <a:scene3d>
            <a:camera prst="isometricOffAxis1Right"/>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Challenges</a:t>
            </a:r>
            <a:endParaRPr lang="en-IN" sz="4000" dirty="0">
              <a:solidFill>
                <a:schemeClr val="bg1"/>
              </a:solidFill>
            </a:endParaRPr>
          </a:p>
        </p:txBody>
      </p:sp>
      <p:sp>
        <p:nvSpPr>
          <p:cNvPr id="24" name="TextBox 23"/>
          <p:cNvSpPr txBox="1"/>
          <p:nvPr/>
        </p:nvSpPr>
        <p:spPr>
          <a:xfrm>
            <a:off x="381000" y="1096963"/>
            <a:ext cx="11449050" cy="4999037"/>
          </a:xfrm>
          <a:prstGeom prst="rect">
            <a:avLst/>
          </a:prstGeom>
          <a:noFill/>
        </p:spPr>
        <p:txBody>
          <a:bodyPr>
            <a:spAutoFit/>
          </a:bodyPr>
          <a:lstStyle/>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Developing a single model for the </a:t>
            </a:r>
            <a:r>
              <a:rPr lang="en-US" altLang="en-US" sz="2300" kern="0" dirty="0">
                <a:solidFill>
                  <a:srgbClr val="0000FF"/>
                </a:solidFill>
                <a:latin typeface="Times New Roman"/>
                <a:cs typeface="+mn-cs"/>
              </a:rPr>
              <a:t>MFD</a:t>
            </a:r>
            <a:r>
              <a:rPr lang="en-US" altLang="en-US" sz="2300" kern="0" dirty="0">
                <a:solidFill>
                  <a:srgbClr val="000000"/>
                </a:solidFill>
                <a:latin typeface="Times New Roman"/>
                <a:cs typeface="+mn-cs"/>
              </a:rPr>
              <a:t>, </a:t>
            </a:r>
            <a:r>
              <a:rPr lang="en-US" altLang="en-US" sz="2300" kern="0" dirty="0">
                <a:solidFill>
                  <a:srgbClr val="008000"/>
                </a:solidFill>
                <a:latin typeface="Times New Roman"/>
                <a:cs typeface="+mn-cs"/>
              </a:rPr>
              <a:t>MFR</a:t>
            </a:r>
            <a:r>
              <a:rPr lang="en-US" altLang="en-US" sz="2300" kern="0" dirty="0">
                <a:solidFill>
                  <a:srgbClr val="000000"/>
                </a:solidFill>
                <a:latin typeface="Times New Roman"/>
                <a:cs typeface="+mn-cs"/>
              </a:rPr>
              <a:t>, </a:t>
            </a:r>
            <a:r>
              <a:rPr lang="en-US" altLang="en-US" sz="2300" kern="0" dirty="0">
                <a:solidFill>
                  <a:srgbClr val="0000FF"/>
                </a:solidFill>
                <a:latin typeface="Times New Roman"/>
                <a:cs typeface="+mn-cs"/>
              </a:rPr>
              <a:t>MFAI</a:t>
            </a:r>
            <a:r>
              <a:rPr lang="en-US" altLang="en-US" sz="2300" kern="0" dirty="0">
                <a:solidFill>
                  <a:srgbClr val="000000"/>
                </a:solidFill>
                <a:latin typeface="Times New Roman"/>
                <a:cs typeface="+mn-cs"/>
              </a:rPr>
              <a:t> and </a:t>
            </a:r>
            <a:r>
              <a:rPr lang="en-US" altLang="en-US" sz="2300" kern="0" dirty="0">
                <a:solidFill>
                  <a:srgbClr val="008000"/>
                </a:solidFill>
                <a:latin typeface="Times New Roman"/>
                <a:cs typeface="+mn-cs"/>
              </a:rPr>
              <a:t>MFGI</a:t>
            </a:r>
            <a:r>
              <a:rPr lang="en-US" altLang="en-US" sz="2300" kern="0" dirty="0">
                <a:solidFill>
                  <a:srgbClr val="000000"/>
                </a:solidFill>
                <a:latin typeface="Times New Roman"/>
                <a:cs typeface="+mn-cs"/>
              </a:rPr>
              <a:t>.</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Performance on both photo and real-time video images as input.</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Datasets non availability. </a:t>
            </a:r>
          </a:p>
          <a:p>
            <a:pPr marL="431800" indent="-323850" defTabSz="457200" eaLnBrk="0" hangingPunct="0">
              <a:lnSpc>
                <a:spcPct val="93000"/>
              </a:lnSpc>
              <a:spcAft>
                <a:spcPts val="1425"/>
              </a:spcAft>
              <a:buClr>
                <a:srgbClr val="000000"/>
              </a:buClr>
              <a:buSzPct val="50000"/>
              <a:buFont typeface="Wingdings" panose="05000000000000000000" pitchFamily="2" charset="2"/>
              <a:buChar char="Ø"/>
              <a:defRPr/>
            </a:pPr>
            <a:r>
              <a:rPr lang="en-US" altLang="en-US" sz="2300" kern="0" dirty="0">
                <a:solidFill>
                  <a:srgbClr val="000000"/>
                </a:solidFill>
                <a:latin typeface="Times New Roman"/>
                <a:cs typeface="+mn-cs"/>
              </a:rPr>
              <a:t>Performance metrices:-</a:t>
            </a:r>
          </a:p>
          <a:p>
            <a:pPr marL="1022350" lvl="1" indent="-457200" defTabSz="457200" eaLnBrk="0" hangingPunct="0">
              <a:lnSpc>
                <a:spcPts val="2000"/>
              </a:lnSpc>
              <a:spcAft>
                <a:spcPts val="1425"/>
              </a:spcAft>
              <a:buClr>
                <a:srgbClr val="000000"/>
              </a:buClr>
              <a:buSzPct val="60000"/>
              <a:buFont typeface="Wingdings" pitchFamily="2" charset="2"/>
              <a:buChar char="§"/>
              <a:defRPr/>
            </a:pPr>
            <a:r>
              <a:rPr lang="en-US" altLang="en-US" sz="2300" kern="0" dirty="0">
                <a:solidFill>
                  <a:srgbClr val="000000"/>
                </a:solidFill>
                <a:latin typeface="Times New Roman"/>
                <a:cs typeface="+mn-cs"/>
              </a:rPr>
              <a:t>Accuracy</a:t>
            </a:r>
          </a:p>
          <a:p>
            <a:pPr marL="1022350" lvl="1" indent="-457200" defTabSz="457200" eaLnBrk="0" hangingPunct="0">
              <a:lnSpc>
                <a:spcPts val="2000"/>
              </a:lnSpc>
              <a:spcAft>
                <a:spcPts val="1425"/>
              </a:spcAft>
              <a:buClr>
                <a:srgbClr val="000000"/>
              </a:buClr>
              <a:buSzPct val="60000"/>
              <a:buFont typeface="Wingdings" pitchFamily="2" charset="2"/>
              <a:buChar char="§"/>
              <a:defRPr/>
            </a:pPr>
            <a:r>
              <a:rPr lang="en-US" altLang="en-US" sz="2300" kern="0" dirty="0">
                <a:solidFill>
                  <a:srgbClr val="000000"/>
                </a:solidFill>
                <a:latin typeface="Times New Roman"/>
              </a:rPr>
              <a:t>Precision</a:t>
            </a:r>
          </a:p>
          <a:p>
            <a:pPr marL="1022350" lvl="1" indent="-457200" defTabSz="457200" eaLnBrk="0" hangingPunct="0">
              <a:lnSpc>
                <a:spcPts val="2000"/>
              </a:lnSpc>
              <a:spcAft>
                <a:spcPts val="1425"/>
              </a:spcAft>
              <a:buClr>
                <a:srgbClr val="000000"/>
              </a:buClr>
              <a:buSzPct val="60000"/>
              <a:buFont typeface="Wingdings" pitchFamily="2" charset="2"/>
              <a:buChar char="§"/>
              <a:defRPr/>
            </a:pPr>
            <a:r>
              <a:rPr lang="en-US" altLang="en-US" sz="2300" kern="0" dirty="0">
                <a:solidFill>
                  <a:srgbClr val="000000"/>
                </a:solidFill>
                <a:latin typeface="Times New Roman"/>
              </a:rPr>
              <a:t>Recall</a:t>
            </a:r>
          </a:p>
          <a:p>
            <a:pPr marL="1022350" lvl="1" indent="-457200" defTabSz="457200" eaLnBrk="0" hangingPunct="0">
              <a:lnSpc>
                <a:spcPts val="2000"/>
              </a:lnSpc>
              <a:spcAft>
                <a:spcPts val="1425"/>
              </a:spcAft>
              <a:buClr>
                <a:srgbClr val="000000"/>
              </a:buClr>
              <a:buSzPct val="60000"/>
              <a:buFont typeface="Wingdings" pitchFamily="2" charset="2"/>
              <a:buChar char="§"/>
              <a:defRPr/>
            </a:pPr>
            <a:r>
              <a:rPr lang="en-US" altLang="en-US" sz="2300" kern="0" dirty="0">
                <a:solidFill>
                  <a:srgbClr val="000000"/>
                </a:solidFill>
                <a:latin typeface="Times New Roman"/>
              </a:rPr>
              <a:t>F1-Score</a:t>
            </a:r>
          </a:p>
          <a:p>
            <a:pPr marL="1022350" lvl="1" indent="-457200" defTabSz="457200" eaLnBrk="0" hangingPunct="0">
              <a:lnSpc>
                <a:spcPts val="2000"/>
              </a:lnSpc>
              <a:spcAft>
                <a:spcPts val="1425"/>
              </a:spcAft>
              <a:buClr>
                <a:srgbClr val="000000"/>
              </a:buClr>
              <a:buSzPct val="60000"/>
              <a:buFont typeface="Wingdings" pitchFamily="2" charset="2"/>
              <a:buChar char="§"/>
              <a:defRPr/>
            </a:pPr>
            <a:r>
              <a:rPr lang="en-US" altLang="en-US" sz="2300" kern="0" dirty="0">
                <a:solidFill>
                  <a:srgbClr val="000000"/>
                </a:solidFill>
                <a:latin typeface="Times New Roman"/>
              </a:rPr>
              <a:t>Computational Time</a:t>
            </a:r>
          </a:p>
          <a:p>
            <a:pPr marL="1022350" lvl="1" indent="-457200" defTabSz="457200" eaLnBrk="0" hangingPunct="0">
              <a:lnSpc>
                <a:spcPts val="2000"/>
              </a:lnSpc>
              <a:spcAft>
                <a:spcPts val="1425"/>
              </a:spcAft>
              <a:buClr>
                <a:srgbClr val="000000"/>
              </a:buClr>
              <a:buSzPct val="60000"/>
              <a:buFont typeface="Wingdings" pitchFamily="2" charset="2"/>
              <a:buChar char="§"/>
              <a:defRPr/>
            </a:pPr>
            <a:r>
              <a:rPr lang="en-US" altLang="en-US" sz="2300" kern="0" dirty="0">
                <a:solidFill>
                  <a:srgbClr val="000000"/>
                </a:solidFill>
                <a:latin typeface="Times New Roman"/>
              </a:rPr>
              <a:t>Error Rate</a:t>
            </a:r>
          </a:p>
          <a:p>
            <a:pPr marL="1022350" lvl="1" indent="-457200" defTabSz="457200" eaLnBrk="0" hangingPunct="0">
              <a:lnSpc>
                <a:spcPts val="2000"/>
              </a:lnSpc>
              <a:spcAft>
                <a:spcPts val="1425"/>
              </a:spcAft>
              <a:buClr>
                <a:srgbClr val="000000"/>
              </a:buClr>
              <a:buSzPct val="60000"/>
              <a:buFont typeface="Wingdings" pitchFamily="2" charset="2"/>
              <a:buChar char="§"/>
              <a:defRPr/>
            </a:pPr>
            <a:r>
              <a:rPr lang="en-US" altLang="en-US" sz="2300" kern="0" dirty="0">
                <a:solidFill>
                  <a:srgbClr val="000000"/>
                </a:solidFill>
                <a:latin typeface="Times New Roman"/>
              </a:rPr>
              <a:t>Trained, Non-to train and Total parameters</a:t>
            </a:r>
          </a:p>
        </p:txBody>
      </p:sp>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8-07-2025			                			                           6</a:t>
            </a:r>
            <a:endParaRPr lang="en-IN" sz="1600" b="1" dirty="0">
              <a:latin typeface="Cambria" pitchFamily="18" charset="0"/>
              <a:ea typeface="Cambria" pitchFamily="18" charset="0"/>
            </a:endParaRPr>
          </a:p>
        </p:txBody>
      </p:sp>
      <p:sp>
        <p:nvSpPr>
          <p:cNvPr id="7" name="Rectangle: Rounded Corners 3"/>
          <p:cNvSpPr/>
          <p:nvPr/>
        </p:nvSpPr>
        <p:spPr>
          <a:xfrm>
            <a:off x="7566315" y="2599051"/>
            <a:ext cx="3302788" cy="498681"/>
          </a:xfrm>
          <a:prstGeom prst="roundRect">
            <a:avLst/>
          </a:prstGeom>
          <a:solidFill>
            <a:srgbClr val="FF0000"/>
          </a:solidFill>
          <a:scene3d>
            <a:camera prst="isometricOffAxis1Right"/>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32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     Research Gap</a:t>
            </a:r>
            <a:endParaRPr lang="en-IN" dirty="0">
              <a:solidFill>
                <a:schemeClr val="bg1"/>
              </a:solidFill>
            </a:endParaRPr>
          </a:p>
        </p:txBody>
      </p:sp>
      <p:pic>
        <p:nvPicPr>
          <p:cNvPr id="7177" name="Picture 2"/>
          <p:cNvPicPr>
            <a:picLocks noChangeAspect="1" noChangeArrowheads="1"/>
          </p:cNvPicPr>
          <p:nvPr/>
        </p:nvPicPr>
        <p:blipFill>
          <a:blip r:embed="rId2"/>
          <a:srcRect/>
          <a:stretch>
            <a:fillRect/>
          </a:stretch>
        </p:blipFill>
        <p:spPr bwMode="auto">
          <a:xfrm>
            <a:off x="6605588" y="3357563"/>
            <a:ext cx="5457825" cy="2624137"/>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08-7-2025			                			                           7</a:t>
            </a:r>
            <a:endParaRPr lang="en-IN" sz="1600" b="1" dirty="0">
              <a:latin typeface="Cambria" pitchFamily="18" charset="0"/>
              <a:ea typeface="Cambria" pitchFamily="18" charset="0"/>
            </a:endParaRPr>
          </a:p>
        </p:txBody>
      </p:sp>
      <p:sp>
        <p:nvSpPr>
          <p:cNvPr id="11" name="Rectangle: Rounded Corners 4"/>
          <p:cNvSpPr/>
          <p:nvPr/>
        </p:nvSpPr>
        <p:spPr>
          <a:xfrm>
            <a:off x="2289099" y="105904"/>
            <a:ext cx="6696000" cy="656096"/>
          </a:xfrm>
          <a:prstGeom prst="roundRect">
            <a:avLst/>
          </a:prstGeom>
          <a:solidFill>
            <a:schemeClr val="accent2"/>
          </a:solidFill>
          <a:scene3d>
            <a:camera prst="isometricOffAxis1Right">
              <a:rot lat="1200000" lon="21594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32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 </a:t>
            </a:r>
            <a:r>
              <a:rPr lang="en-US" altLang="en-US" sz="4000" b="1" kern="0" dirty="0">
                <a:solidFill>
                  <a:schemeClr val="bg1"/>
                </a:solidFill>
                <a:effectLst>
                  <a:outerShdw blurRad="38100" dist="38100" dir="2700000" algn="tl">
                    <a:srgbClr val="000000">
                      <a:alpha val="43137"/>
                    </a:srgbClr>
                  </a:outerShdw>
                </a:effectLst>
                <a:latin typeface="Times New Roman"/>
              </a:rPr>
              <a:t>CMNV2 Model Development </a:t>
            </a:r>
            <a:endParaRPr lang="en-IN" sz="4000" dirty="0">
              <a:solidFill>
                <a:schemeClr val="bg1"/>
              </a:solidFill>
            </a:endParaRPr>
          </a:p>
        </p:txBody>
      </p:sp>
      <p:sp>
        <p:nvSpPr>
          <p:cNvPr id="8199" name="TextBox 6"/>
          <p:cNvSpPr txBox="1">
            <a:spLocks noChangeArrowheads="1"/>
          </p:cNvSpPr>
          <p:nvPr/>
        </p:nvSpPr>
        <p:spPr bwMode="auto">
          <a:xfrm>
            <a:off x="3810615" y="1000694"/>
            <a:ext cx="6981210" cy="5198344"/>
          </a:xfrm>
          <a:prstGeom prst="rect">
            <a:avLst/>
          </a:prstGeom>
          <a:noFill/>
          <a:ln w="9525">
            <a:noFill/>
            <a:miter lim="800000"/>
            <a:headEnd/>
            <a:tailEnd/>
          </a:ln>
        </p:spPr>
        <p:txBody>
          <a:bodyPr wrap="square">
            <a:spAutoFit/>
          </a:bodyPr>
          <a:lstStyle/>
          <a:p>
            <a:pPr marL="285750" indent="-285750" algn="just">
              <a:spcAft>
                <a:spcPts val="1200"/>
              </a:spcAft>
            </a:pPr>
            <a:r>
              <a:rPr lang="en-US" sz="2000" dirty="0">
                <a:latin typeface="Times New Roman" pitchFamily="18" charset="0"/>
                <a:cs typeface="Times New Roman" pitchFamily="18" charset="0"/>
              </a:rPr>
              <a:t>MobileNetV2 – </a:t>
            </a:r>
            <a:r>
              <a:rPr lang="en-US" sz="2000" dirty="0" err="1">
                <a:latin typeface="Times New Roman" pitchFamily="18" charset="0"/>
                <a:cs typeface="Times New Roman" pitchFamily="18" charset="0"/>
              </a:rPr>
              <a:t>preto</a:t>
            </a:r>
            <a:r>
              <a:rPr lang="en-US" sz="2000" dirty="0">
                <a:latin typeface="Times New Roman" pitchFamily="18" charset="0"/>
                <a:cs typeface="Times New Roman" pitchFamily="18" charset="0"/>
              </a:rPr>
              <a:t> train model </a:t>
            </a:r>
          </a:p>
          <a:p>
            <a:pPr marL="285750" indent="-285750" algn="just">
              <a:spcAft>
                <a:spcPts val="1200"/>
              </a:spcAft>
            </a:pPr>
            <a:r>
              <a:rPr lang="en-US" sz="2000" dirty="0">
                <a:latin typeface="Times New Roman" pitchFamily="18" charset="0"/>
                <a:cs typeface="Times New Roman" pitchFamily="18" charset="0"/>
              </a:rPr>
              <a:t>       </a:t>
            </a:r>
          </a:p>
          <a:p>
            <a:pPr marL="285750" indent="-285750" algn="just">
              <a:spcAft>
                <a:spcPts val="1200"/>
              </a:spcAft>
            </a:pPr>
            <a:r>
              <a:rPr lang="en-US" sz="2000" dirty="0">
                <a:latin typeface="Times New Roman" pitchFamily="18" charset="0"/>
                <a:cs typeface="Times New Roman" pitchFamily="18" charset="0"/>
              </a:rPr>
              <a:t>      Layers are frozen</a:t>
            </a:r>
          </a:p>
          <a:p>
            <a:pPr marL="285750" indent="-285750" algn="just">
              <a:spcAft>
                <a:spcPts val="1200"/>
              </a:spcAft>
            </a:pPr>
            <a:endParaRPr lang="en-US" sz="2000" dirty="0">
              <a:latin typeface="Times New Roman" pitchFamily="18" charset="0"/>
              <a:cs typeface="Times New Roman" pitchFamily="18" charset="0"/>
            </a:endParaRPr>
          </a:p>
          <a:p>
            <a:pPr marL="285750" indent="-285750" algn="just">
              <a:spcAft>
                <a:spcPts val="1200"/>
              </a:spcAft>
            </a:pPr>
            <a:r>
              <a:rPr lang="en-US" sz="2000" dirty="0">
                <a:latin typeface="Times New Roman" pitchFamily="18" charset="0"/>
                <a:cs typeface="Times New Roman" pitchFamily="18" charset="0"/>
              </a:rPr>
              <a:t>Transfer learning approach</a:t>
            </a:r>
          </a:p>
          <a:p>
            <a:pPr marL="285750" indent="-285750" algn="just">
              <a:spcAft>
                <a:spcPts val="1200"/>
              </a:spcAft>
            </a:pPr>
            <a:r>
              <a:rPr lang="en-US" sz="2000" dirty="0">
                <a:latin typeface="Times New Roman" pitchFamily="18" charset="0"/>
                <a:cs typeface="Times New Roman" pitchFamily="18" charset="0"/>
              </a:rPr>
              <a:t>                                                        				</a:t>
            </a:r>
          </a:p>
          <a:p>
            <a:pPr marL="285750" indent="-285750" algn="just">
              <a:spcAft>
                <a:spcPts val="1200"/>
              </a:spcAft>
            </a:pPr>
            <a:r>
              <a:rPr lang="en-US" sz="2000" dirty="0">
                <a:latin typeface="Times New Roman" pitchFamily="18" charset="0"/>
                <a:cs typeface="Times New Roman" pitchFamily="18" charset="0"/>
              </a:rPr>
              <a:t>Modified MobileNetV2 (MMNV2) model</a:t>
            </a:r>
          </a:p>
          <a:p>
            <a:pPr marL="285750" indent="-285750" algn="just">
              <a:spcAft>
                <a:spcPts val="1200"/>
              </a:spcAft>
            </a:pPr>
            <a:r>
              <a:rPr lang="en-US" sz="2000" dirty="0">
                <a:latin typeface="Times New Roman" pitchFamily="18" charset="0"/>
                <a:cs typeface="Times New Roman" pitchFamily="18" charset="0"/>
              </a:rPr>
              <a:t>								</a:t>
            </a:r>
          </a:p>
          <a:p>
            <a:pPr marL="285750" indent="-285750" algn="just">
              <a:spcAft>
                <a:spcPts val="1200"/>
              </a:spcAft>
            </a:pPr>
            <a:r>
              <a:rPr lang="en-US" sz="2000" dirty="0">
                <a:latin typeface="Times New Roman" pitchFamily="18" charset="0"/>
                <a:cs typeface="Times New Roman" pitchFamily="18" charset="0"/>
              </a:rPr>
              <a:t>CAFFE – </a:t>
            </a:r>
            <a:r>
              <a:rPr lang="en-US" sz="2000" dirty="0" err="1">
                <a:latin typeface="Times New Roman" pitchFamily="18" charset="0"/>
                <a:cs typeface="Times New Roman" pitchFamily="18" charset="0"/>
              </a:rPr>
              <a:t>preto</a:t>
            </a:r>
            <a:r>
              <a:rPr lang="en-US" sz="2000" dirty="0">
                <a:latin typeface="Times New Roman" pitchFamily="18" charset="0"/>
                <a:cs typeface="Times New Roman" pitchFamily="18" charset="0"/>
              </a:rPr>
              <a:t> train weights 		</a:t>
            </a:r>
          </a:p>
          <a:p>
            <a:pPr marL="285750" indent="-285750" algn="just">
              <a:spcAft>
                <a:spcPts val="1200"/>
              </a:spcAft>
            </a:pPr>
            <a:r>
              <a:rPr lang="en-US" sz="2000" dirty="0">
                <a:latin typeface="Times New Roman" pitchFamily="18" charset="0"/>
                <a:cs typeface="Times New Roman" pitchFamily="18" charset="0"/>
              </a:rPr>
              <a:t>								</a:t>
            </a:r>
          </a:p>
          <a:p>
            <a:pPr marL="285750" indent="-285750" algn="just">
              <a:lnSpc>
                <a:spcPts val="1100"/>
              </a:lnSpc>
              <a:spcAft>
                <a:spcPts val="1200"/>
              </a:spcAft>
            </a:pPr>
            <a:r>
              <a:rPr lang="en-US" sz="2000" dirty="0">
                <a:latin typeface="Times New Roman" pitchFamily="18" charset="0"/>
                <a:cs typeface="Times New Roman" pitchFamily="18" charset="0"/>
              </a:rPr>
              <a:t>     </a:t>
            </a:r>
          </a:p>
          <a:p>
            <a:pPr marL="285750" indent="-285750" algn="just">
              <a:lnSpc>
                <a:spcPts val="1100"/>
              </a:lnSpc>
              <a:spcAft>
                <a:spcPts val="1200"/>
              </a:spcAft>
            </a:pPr>
            <a:r>
              <a:rPr lang="en-US" sz="2000" dirty="0">
                <a:latin typeface="Times New Roman" pitchFamily="18" charset="0"/>
                <a:cs typeface="Times New Roman" pitchFamily="18" charset="0"/>
              </a:rPr>
              <a:t>       </a:t>
            </a:r>
            <a:r>
              <a:rPr lang="en-US" sz="3200" b="1" dirty="0">
                <a:latin typeface="Times New Roman" pitchFamily="18" charset="0"/>
                <a:cs typeface="Times New Roman" pitchFamily="18" charset="0"/>
              </a:rPr>
              <a:t>CMNV2</a:t>
            </a:r>
            <a:r>
              <a:rPr lang="en-US" sz="3200" dirty="0">
                <a:latin typeface="Times New Roman" pitchFamily="18" charset="0"/>
                <a:cs typeface="Times New Roman" pitchFamily="18" charset="0"/>
              </a:rPr>
              <a:t> </a:t>
            </a:r>
            <a:r>
              <a:rPr lang="en-US" sz="2400" dirty="0">
                <a:latin typeface="Times New Roman" pitchFamily="18" charset="0"/>
                <a:cs typeface="Times New Roman" pitchFamily="18" charset="0"/>
              </a:rPr>
              <a:t>model </a:t>
            </a:r>
            <a:r>
              <a:rPr lang="en-US" sz="2800" b="1" dirty="0">
                <a:solidFill>
                  <a:srgbClr val="0000FF"/>
                </a:solidFill>
                <a:latin typeface="Times New Roman" pitchFamily="18" charset="0"/>
                <a:cs typeface="Times New Roman" pitchFamily="18" charset="0"/>
              </a:rPr>
              <a:t>(Hybrid)</a:t>
            </a:r>
          </a:p>
        </p:txBody>
      </p:sp>
      <p:sp>
        <p:nvSpPr>
          <p:cNvPr id="6" name="Down Arrow 5"/>
          <p:cNvSpPr/>
          <p:nvPr/>
        </p:nvSpPr>
        <p:spPr>
          <a:xfrm>
            <a:off x="5038110" y="1449336"/>
            <a:ext cx="484188" cy="539750"/>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Down Arrow 9"/>
          <p:cNvSpPr/>
          <p:nvPr/>
        </p:nvSpPr>
        <p:spPr>
          <a:xfrm>
            <a:off x="5006206" y="2327226"/>
            <a:ext cx="484188" cy="539750"/>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Down Arrow 11"/>
          <p:cNvSpPr/>
          <p:nvPr/>
        </p:nvSpPr>
        <p:spPr>
          <a:xfrm>
            <a:off x="4974302" y="3205116"/>
            <a:ext cx="484188" cy="539750"/>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Down Arrow 13"/>
          <p:cNvSpPr/>
          <p:nvPr/>
        </p:nvSpPr>
        <p:spPr>
          <a:xfrm>
            <a:off x="5114079" y="5071398"/>
            <a:ext cx="484188" cy="539750"/>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Plus 14"/>
          <p:cNvSpPr/>
          <p:nvPr/>
        </p:nvSpPr>
        <p:spPr>
          <a:xfrm>
            <a:off x="4887861" y="3983560"/>
            <a:ext cx="936625" cy="792163"/>
          </a:xfrm>
          <a:prstGeom prst="mathPl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8</a:t>
            </a:r>
            <a:endParaRPr lang="en-IN" sz="1600" b="1" dirty="0">
              <a:latin typeface="Cambria" pitchFamily="18" charset="0"/>
              <a:ea typeface="Cambria" pitchFamily="18" charset="0"/>
            </a:endParaRPr>
          </a:p>
        </p:txBody>
      </p:sp>
      <p:sp>
        <p:nvSpPr>
          <p:cNvPr id="11" name="Rectangle: Rounded Corners 4"/>
          <p:cNvSpPr/>
          <p:nvPr/>
        </p:nvSpPr>
        <p:spPr>
          <a:xfrm>
            <a:off x="-133351" y="420229"/>
            <a:ext cx="6624000" cy="656096"/>
          </a:xfrm>
          <a:prstGeom prst="roundRect">
            <a:avLst/>
          </a:prstGeom>
          <a:solidFill>
            <a:schemeClr val="accent2"/>
          </a:solidFill>
          <a:scene3d>
            <a:camera prst="isometricOffAxis1Right">
              <a:rot lat="120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kern="0" dirty="0">
                <a:solidFill>
                  <a:schemeClr val="bg1"/>
                </a:solidFill>
                <a:latin typeface="Times New Roman"/>
                <a:cs typeface="Arial" pitchFamily="34" charset="0"/>
              </a:rPr>
              <a:t>Advantages and Applications</a:t>
            </a:r>
            <a:r>
              <a:rPr lang="en-US" altLang="en-US" sz="4000" b="1" kern="0" dirty="0">
                <a:solidFill>
                  <a:schemeClr val="bg1"/>
                </a:solidFill>
                <a:effectLst>
                  <a:outerShdw blurRad="38100" dist="38100" dir="2700000" algn="tl">
                    <a:srgbClr val="000000">
                      <a:alpha val="43137"/>
                    </a:srgbClr>
                  </a:outerShdw>
                </a:effectLst>
                <a:latin typeface="Times New Roman"/>
              </a:rPr>
              <a:t> </a:t>
            </a:r>
            <a:endParaRPr lang="en-IN" sz="4000" b="1" dirty="0">
              <a:solidFill>
                <a:schemeClr val="bg1"/>
              </a:solidFill>
            </a:endParaRPr>
          </a:p>
        </p:txBody>
      </p:sp>
      <p:sp>
        <p:nvSpPr>
          <p:cNvPr id="13" name="TextBox 3"/>
          <p:cNvSpPr txBox="1">
            <a:spLocks noChangeArrowheads="1"/>
          </p:cNvSpPr>
          <p:nvPr/>
        </p:nvSpPr>
        <p:spPr bwMode="auto">
          <a:xfrm>
            <a:off x="1095375" y="1651000"/>
            <a:ext cx="3857625" cy="4524375"/>
          </a:xfrm>
          <a:prstGeom prst="rect">
            <a:avLst/>
          </a:prstGeom>
          <a:noFill/>
          <a:ln w="6350">
            <a:solidFill>
              <a:srgbClr val="2C78B6"/>
            </a:solidFill>
            <a:prstDash val="lgDash"/>
            <a:miter lim="800000"/>
            <a:headEnd/>
            <a:tailEnd/>
          </a:ln>
        </p:spPr>
        <p:txBody>
          <a:bodyPr>
            <a:spAutoFit/>
          </a:bodyPr>
          <a:lstStyle/>
          <a:p>
            <a:pPr>
              <a:lnSpc>
                <a:spcPct val="150000"/>
              </a:lnSpc>
              <a:defRPr/>
            </a:pPr>
            <a:r>
              <a:rPr lang="en-US" altLang="en-US" sz="2400" b="1" kern="0" dirty="0">
                <a:solidFill>
                  <a:srgbClr val="C00000"/>
                </a:solidFill>
                <a:latin typeface="Times New Roman"/>
              </a:rPr>
              <a:t>           Advantages:-</a:t>
            </a:r>
          </a:p>
          <a:p>
            <a:pPr>
              <a:lnSpc>
                <a:spcPct val="150000"/>
              </a:lnSpc>
              <a:buClr>
                <a:schemeClr val="tx1"/>
              </a:buClr>
              <a:buFont typeface="Wingdings" pitchFamily="2" charset="2"/>
              <a:buChar char="ü"/>
              <a:defRPr/>
            </a:pPr>
            <a:r>
              <a:rPr lang="en-US" sz="2400" b="1"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Efficient training</a:t>
            </a:r>
          </a:p>
          <a:p>
            <a:pPr>
              <a:lnSpc>
                <a:spcPct val="150000"/>
              </a:lnSpc>
              <a:buClr>
                <a:schemeClr val="tx1"/>
              </a:buClr>
              <a:buFont typeface="Wingdings" pitchFamily="2" charset="2"/>
              <a:buChar char="ü"/>
              <a:defRPr/>
            </a:pP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Improved performance</a:t>
            </a:r>
          </a:p>
          <a:p>
            <a:pPr>
              <a:lnSpc>
                <a:spcPct val="150000"/>
              </a:lnSpc>
              <a:buClr>
                <a:schemeClr val="tx1"/>
              </a:buClr>
              <a:buFont typeface="Wingdings" pitchFamily="2" charset="2"/>
              <a:buChar char="ü"/>
              <a:defRPr/>
            </a:pPr>
            <a:r>
              <a:rPr lang="en-IN" sz="2400" dirty="0">
                <a:latin typeface="Times New Roman" pitchFamily="18" charset="0"/>
                <a:cs typeface="Times New Roman" pitchFamily="18" charset="0"/>
              </a:rPr>
              <a:t> </a:t>
            </a:r>
            <a:r>
              <a:rPr lang="en-US" sz="2400" dirty="0">
                <a:latin typeface="Times New Roman" pitchFamily="18" charset="0"/>
                <a:cs typeface="Times New Roman" pitchFamily="18" charset="0"/>
              </a:rPr>
              <a:t>Categorization</a:t>
            </a:r>
          </a:p>
          <a:p>
            <a:pPr>
              <a:lnSpc>
                <a:spcPct val="150000"/>
              </a:lnSpc>
              <a:buClr>
                <a:schemeClr val="tx1"/>
              </a:buClr>
              <a:buFont typeface="Wingdings" pitchFamily="2" charset="2"/>
              <a:buChar char="ü"/>
              <a:defRPr/>
            </a:pPr>
            <a:r>
              <a:rPr lang="en-US" sz="2400" dirty="0">
                <a:latin typeface="Times New Roman" pitchFamily="18" charset="0"/>
                <a:cs typeface="Times New Roman" pitchFamily="18" charset="0"/>
              </a:rPr>
              <a:t> Data utilization</a:t>
            </a:r>
          </a:p>
          <a:p>
            <a:pPr>
              <a:lnSpc>
                <a:spcPct val="150000"/>
              </a:lnSpc>
              <a:buClr>
                <a:schemeClr val="tx1"/>
              </a:buClr>
              <a:buFont typeface="Wingdings" pitchFamily="2" charset="2"/>
              <a:buChar char="ü"/>
              <a:defRPr/>
            </a:pPr>
            <a:r>
              <a:rPr lang="en-US" sz="2400" dirty="0">
                <a:latin typeface="Times New Roman" pitchFamily="18" charset="0"/>
                <a:cs typeface="Times New Roman" pitchFamily="18" charset="0"/>
              </a:rPr>
              <a:t> Computational efficiency</a:t>
            </a:r>
          </a:p>
          <a:p>
            <a:pPr>
              <a:lnSpc>
                <a:spcPct val="150000"/>
              </a:lnSpc>
              <a:buClr>
                <a:schemeClr val="tx1"/>
              </a:buClr>
              <a:buFont typeface="Wingdings" pitchFamily="2" charset="2"/>
              <a:buChar char="ü"/>
              <a:defRPr/>
            </a:pPr>
            <a:r>
              <a:rPr lang="en-US" sz="2400" dirty="0">
                <a:latin typeface="Times New Roman" pitchFamily="18" charset="0"/>
                <a:cs typeface="Times New Roman" pitchFamily="18" charset="0"/>
              </a:rPr>
              <a:t> Adaptability</a:t>
            </a:r>
          </a:p>
          <a:p>
            <a:pPr>
              <a:lnSpc>
                <a:spcPct val="150000"/>
              </a:lnSpc>
              <a:buClr>
                <a:schemeClr val="tx1"/>
              </a:buClr>
              <a:buFont typeface="Wingdings" pitchFamily="2" charset="2"/>
              <a:buChar char="ü"/>
              <a:defRPr/>
            </a:pPr>
            <a:r>
              <a:rPr lang="en-US" sz="2400" dirty="0">
                <a:latin typeface="Times New Roman" pitchFamily="18" charset="0"/>
                <a:cs typeface="Times New Roman" pitchFamily="18" charset="0"/>
              </a:rPr>
              <a:t> Robustness</a:t>
            </a:r>
            <a:endParaRPr lang="en-IN" sz="2400" dirty="0">
              <a:latin typeface="Times New Roman" pitchFamily="18" charset="0"/>
              <a:cs typeface="Times New Roman" pitchFamily="18" charset="0"/>
            </a:endParaRPr>
          </a:p>
        </p:txBody>
      </p:sp>
      <p:sp>
        <p:nvSpPr>
          <p:cNvPr id="17" name="TextBox 4"/>
          <p:cNvSpPr txBox="1">
            <a:spLocks noChangeArrowheads="1"/>
          </p:cNvSpPr>
          <p:nvPr/>
        </p:nvSpPr>
        <p:spPr bwMode="auto">
          <a:xfrm>
            <a:off x="6762751" y="1649413"/>
            <a:ext cx="4953000" cy="4524315"/>
          </a:xfrm>
          <a:prstGeom prst="rect">
            <a:avLst/>
          </a:prstGeom>
          <a:noFill/>
          <a:ln w="6350">
            <a:solidFill>
              <a:srgbClr val="FF0000"/>
            </a:solidFill>
            <a:prstDash val="lgDash"/>
            <a:miter lim="800000"/>
            <a:headEnd/>
            <a:tailEnd/>
          </a:ln>
        </p:spPr>
        <p:txBody>
          <a:bodyPr wrap="square">
            <a:spAutoFit/>
          </a:bodyPr>
          <a:lstStyle/>
          <a:p>
            <a:pPr>
              <a:lnSpc>
                <a:spcPct val="150000"/>
              </a:lnSpc>
              <a:defRPr/>
            </a:pPr>
            <a:r>
              <a:rPr lang="en-US" altLang="en-US" sz="2400" b="1" kern="0" dirty="0">
                <a:solidFill>
                  <a:srgbClr val="2C78B6"/>
                </a:solidFill>
                <a:latin typeface="Times New Roman"/>
              </a:rPr>
              <a:t>                   Applications:-</a:t>
            </a:r>
          </a:p>
          <a:p>
            <a:pPr>
              <a:lnSpc>
                <a:spcPct val="150000"/>
              </a:lnSpc>
              <a:buClr>
                <a:schemeClr val="tx1"/>
              </a:buClr>
              <a:buFont typeface="Wingdings" pitchFamily="2" charset="2"/>
              <a:buChar char="Ø"/>
              <a:defRPr/>
            </a:pPr>
            <a:r>
              <a:rPr lang="en-US" altLang="en-US" sz="2400" b="1" kern="0" dirty="0">
                <a:solidFill>
                  <a:srgbClr val="2C78B6"/>
                </a:solidFill>
                <a:latin typeface="Times New Roman"/>
              </a:rPr>
              <a:t> </a:t>
            </a:r>
            <a:r>
              <a:rPr lang="en-US" sz="2400" dirty="0">
                <a:latin typeface="Times New Roman" pitchFamily="18" charset="0"/>
                <a:cs typeface="Times New Roman" pitchFamily="18" charset="0"/>
              </a:rPr>
              <a:t>Healthcare</a:t>
            </a:r>
          </a:p>
          <a:p>
            <a:pPr>
              <a:lnSpc>
                <a:spcPct val="150000"/>
              </a:lnSpc>
              <a:buClr>
                <a:schemeClr val="tx1"/>
              </a:buClr>
              <a:buFont typeface="Wingdings" pitchFamily="2" charset="2"/>
              <a:buChar char="Ø"/>
              <a:defRPr/>
            </a:pPr>
            <a:r>
              <a:rPr lang="en-US" altLang="en-US" sz="2400" kern="0" dirty="0">
                <a:solidFill>
                  <a:srgbClr val="2C78B6"/>
                </a:solidFill>
                <a:latin typeface="Times New Roman" pitchFamily="18" charset="0"/>
                <a:cs typeface="Times New Roman" pitchFamily="18" charset="0"/>
              </a:rPr>
              <a:t> </a:t>
            </a:r>
            <a:r>
              <a:rPr lang="en-US" sz="2400" dirty="0">
                <a:latin typeface="Times New Roman" pitchFamily="18" charset="0"/>
                <a:cs typeface="Times New Roman" pitchFamily="18" charset="0"/>
              </a:rPr>
              <a:t>Security and surveillance</a:t>
            </a:r>
          </a:p>
          <a:p>
            <a:pPr>
              <a:lnSpc>
                <a:spcPct val="150000"/>
              </a:lnSpc>
              <a:buClr>
                <a:schemeClr val="tx1"/>
              </a:buClr>
              <a:buFont typeface="Wingdings" pitchFamily="2" charset="2"/>
              <a:buChar char="Ø"/>
              <a:defRPr/>
            </a:pPr>
            <a:r>
              <a:rPr lang="en-US" altLang="en-US" sz="2400" kern="0" dirty="0">
                <a:solidFill>
                  <a:srgbClr val="2C78B6"/>
                </a:solidFill>
                <a:latin typeface="Times New Roman" pitchFamily="18" charset="0"/>
                <a:cs typeface="Times New Roman" pitchFamily="18" charset="0"/>
              </a:rPr>
              <a:t> </a:t>
            </a:r>
            <a:r>
              <a:rPr lang="en-US" sz="2400" dirty="0">
                <a:latin typeface="Times New Roman" pitchFamily="18" charset="0"/>
                <a:cs typeface="Times New Roman" pitchFamily="18" charset="0"/>
              </a:rPr>
              <a:t>Smart cities</a:t>
            </a:r>
          </a:p>
          <a:p>
            <a:pPr>
              <a:lnSpc>
                <a:spcPct val="150000"/>
              </a:lnSpc>
              <a:buClr>
                <a:schemeClr val="tx1"/>
              </a:buClr>
              <a:buFont typeface="Wingdings" pitchFamily="2" charset="2"/>
              <a:buChar char="Ø"/>
              <a:defRPr/>
            </a:pPr>
            <a:r>
              <a:rPr lang="en-US" altLang="en-US" sz="2400" kern="0" dirty="0">
                <a:solidFill>
                  <a:srgbClr val="2C78B6"/>
                </a:solidFill>
                <a:latin typeface="Times New Roman" pitchFamily="18" charset="0"/>
                <a:cs typeface="Times New Roman" pitchFamily="18" charset="0"/>
              </a:rPr>
              <a:t> </a:t>
            </a:r>
            <a:r>
              <a:rPr lang="en-US" sz="2400" dirty="0">
                <a:latin typeface="Times New Roman" pitchFamily="18" charset="0"/>
                <a:cs typeface="Times New Roman" pitchFamily="18" charset="0"/>
              </a:rPr>
              <a:t>Educational institutions</a:t>
            </a:r>
          </a:p>
          <a:p>
            <a:pPr>
              <a:lnSpc>
                <a:spcPct val="150000"/>
              </a:lnSpc>
              <a:buClr>
                <a:schemeClr val="tx1"/>
              </a:buClr>
              <a:buFont typeface="Wingdings" pitchFamily="2" charset="2"/>
              <a:buChar char="Ø"/>
              <a:defRPr/>
            </a:pPr>
            <a:r>
              <a:rPr lang="en-US" altLang="en-US" sz="2400" kern="0" dirty="0">
                <a:solidFill>
                  <a:srgbClr val="2C78B6"/>
                </a:solidFill>
                <a:latin typeface="Times New Roman" pitchFamily="18" charset="0"/>
                <a:cs typeface="Times New Roman" pitchFamily="18" charset="0"/>
              </a:rPr>
              <a:t> </a:t>
            </a:r>
            <a:r>
              <a:rPr lang="en-US" sz="2400" dirty="0">
                <a:latin typeface="Times New Roman" pitchFamily="18" charset="0"/>
                <a:cs typeface="Times New Roman" pitchFamily="18" charset="0"/>
              </a:rPr>
              <a:t>Smart home devices</a:t>
            </a:r>
          </a:p>
          <a:p>
            <a:pPr>
              <a:lnSpc>
                <a:spcPct val="150000"/>
              </a:lnSpc>
              <a:buClr>
                <a:schemeClr val="tx1"/>
              </a:buClr>
              <a:buFont typeface="Wingdings" pitchFamily="2" charset="2"/>
              <a:buChar char="Ø"/>
              <a:defRPr/>
            </a:pPr>
            <a:r>
              <a:rPr lang="en-US" altLang="en-US" sz="2400" kern="0" dirty="0">
                <a:solidFill>
                  <a:srgbClr val="2C78B6"/>
                </a:solidFill>
                <a:latin typeface="Times New Roman" pitchFamily="18" charset="0"/>
                <a:cs typeface="Times New Roman" pitchFamily="18" charset="0"/>
              </a:rPr>
              <a:t> </a:t>
            </a:r>
            <a:r>
              <a:rPr lang="en-US" sz="2400" dirty="0">
                <a:latin typeface="Times New Roman" pitchFamily="18" charset="0"/>
                <a:cs typeface="Times New Roman" pitchFamily="18" charset="0"/>
              </a:rPr>
              <a:t>Biometrics and identity verification</a:t>
            </a:r>
          </a:p>
          <a:p>
            <a:pPr>
              <a:lnSpc>
                <a:spcPct val="150000"/>
              </a:lnSpc>
              <a:buClr>
                <a:schemeClr val="tx1"/>
              </a:buClr>
              <a:buFont typeface="Wingdings" pitchFamily="2" charset="2"/>
              <a:buChar char="Ø"/>
              <a:defRPr/>
            </a:pPr>
            <a:r>
              <a:rPr lang="en-US" altLang="en-US" sz="2400" kern="0" dirty="0">
                <a:solidFill>
                  <a:srgbClr val="2C78B6"/>
                </a:solidFill>
                <a:latin typeface="Times New Roman" pitchFamily="18" charset="0"/>
                <a:cs typeface="Times New Roman" pitchFamily="18" charset="0"/>
              </a:rPr>
              <a:t> </a:t>
            </a:r>
            <a:r>
              <a:rPr lang="en-US" sz="2400" dirty="0">
                <a:latin typeface="Times New Roman" pitchFamily="18" charset="0"/>
                <a:cs typeface="Times New Roman" pitchFamily="18" charset="0"/>
              </a:rPr>
              <a:t>Pharmaceutical research</a:t>
            </a:r>
            <a:endParaRPr lang="en-IN" sz="2400" dirty="0">
              <a:solidFill>
                <a:srgbClr val="2C78B6"/>
              </a:solidFill>
              <a:latin typeface="Calibri"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9</a:t>
            </a:r>
            <a:endParaRPr lang="en-IN" sz="1600" b="1" dirty="0">
              <a:latin typeface="Cambria" pitchFamily="18" charset="0"/>
              <a:ea typeface="Cambria" pitchFamily="18" charset="0"/>
            </a:endParaRPr>
          </a:p>
        </p:txBody>
      </p:sp>
      <p:sp>
        <p:nvSpPr>
          <p:cNvPr id="11" name="Rectangle: Rounded Corners 4"/>
          <p:cNvSpPr/>
          <p:nvPr/>
        </p:nvSpPr>
        <p:spPr>
          <a:xfrm>
            <a:off x="2495547" y="770553"/>
            <a:ext cx="9477377" cy="1116000"/>
          </a:xfrm>
          <a:prstGeom prst="roundRect">
            <a:avLst/>
          </a:prstGeom>
          <a:solidFill>
            <a:srgbClr val="002060"/>
          </a:solidFill>
          <a:ln>
            <a:solidFill>
              <a:srgbClr val="002060"/>
            </a:solidFill>
          </a:ln>
          <a:scene3d>
            <a:camera prst="isometricOffAxis1Right">
              <a:rot lat="1080000" lon="21594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3200" b="1" dirty="0">
                <a:latin typeface="Times New Roman" pitchFamily="18" charset="0"/>
                <a:cs typeface="Times New Roman" pitchFamily="18" charset="0"/>
              </a:rPr>
              <a:t>Face mask detection on photo and real-time video images using CAFFE-MobileNetV2 transfer learning </a:t>
            </a:r>
            <a:endParaRPr lang="en-IN" dirty="0">
              <a:solidFill>
                <a:schemeClr val="bg1"/>
              </a:solidFill>
              <a:latin typeface="Times New Roman" pitchFamily="18" charset="0"/>
              <a:cs typeface="Times New Roman" pitchFamily="18" charset="0"/>
            </a:endParaRPr>
          </a:p>
        </p:txBody>
      </p:sp>
      <p:sp>
        <p:nvSpPr>
          <p:cNvPr id="7" name="Rectangle: Rounded Corners 4"/>
          <p:cNvSpPr/>
          <p:nvPr/>
        </p:nvSpPr>
        <p:spPr>
          <a:xfrm>
            <a:off x="0" y="201153"/>
            <a:ext cx="2700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1</a:t>
            </a:r>
            <a:r>
              <a:rPr lang="en-US" altLang="en-US" sz="4000" b="1" baseline="30000"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st</a:t>
            </a: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 Chapter</a:t>
            </a:r>
            <a:endParaRPr lang="en-IN" sz="4000" dirty="0">
              <a:solidFill>
                <a:schemeClr val="bg1"/>
              </a:solidFill>
            </a:endParaRPr>
          </a:p>
        </p:txBody>
      </p:sp>
      <p:sp>
        <p:nvSpPr>
          <p:cNvPr id="10248" name="TextBox 6"/>
          <p:cNvSpPr txBox="1">
            <a:spLocks noChangeArrowheads="1"/>
          </p:cNvSpPr>
          <p:nvPr/>
        </p:nvSpPr>
        <p:spPr bwMode="auto">
          <a:xfrm>
            <a:off x="219075" y="1925067"/>
            <a:ext cx="11772900" cy="4401205"/>
          </a:xfrm>
          <a:prstGeom prst="rect">
            <a:avLst/>
          </a:prstGeom>
          <a:noFill/>
          <a:ln w="9525">
            <a:noFill/>
            <a:miter lim="800000"/>
            <a:headEnd/>
            <a:tailEnd/>
          </a:ln>
        </p:spPr>
        <p:txBody>
          <a:bodyPr wrap="square">
            <a:spAutoFit/>
          </a:bodyPr>
          <a:lstStyle/>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This paper aims to implement a model on data, i.e., by taking tasks for the face detection of people from the  </a:t>
            </a:r>
          </a:p>
          <a:p>
            <a:pPr algn="just"/>
            <a:r>
              <a:rPr lang="en-US" sz="2000" dirty="0">
                <a:latin typeface="Times New Roman" pitchFamily="18" charset="0"/>
                <a:cs typeface="Times New Roman" pitchFamily="18" charset="0"/>
              </a:rPr>
              <a:t>    photo and in real-time video images with and without a mask.</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 idea of performing such a task is by using the CAFFE-MobileNetV2 (CMNV2) model for feature    </a:t>
            </a:r>
          </a:p>
          <a:p>
            <a:pPr algn="just"/>
            <a:r>
              <a:rPr lang="en-US" sz="2000" dirty="0">
                <a:latin typeface="Times New Roman" pitchFamily="18" charset="0"/>
                <a:cs typeface="Times New Roman" pitchFamily="18" charset="0"/>
              </a:rPr>
              <a:t>   extraction and masked image classification. </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Proposed CMNV2 method was created with the Transfer Learning, DL, DNN architecture using TensorFlow, </a:t>
            </a:r>
          </a:p>
          <a:p>
            <a:pPr algn="just"/>
            <a:r>
              <a:rPr lang="en-US" sz="2000" dirty="0">
                <a:latin typeface="Times New Roman" pitchFamily="18" charset="0"/>
                <a:cs typeface="Times New Roman" pitchFamily="18" charset="0"/>
              </a:rPr>
              <a:t>   Keras, and OpenCV libraries to detect face masks in real-time.</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‘Prajna Bhandary’ created a dataset of 1376 images by artificial masking, which is available in the GitHub</a:t>
            </a:r>
          </a:p>
          <a:p>
            <a:pPr algn="just"/>
            <a:r>
              <a:rPr lang="en-US" sz="2000" dirty="0">
                <a:latin typeface="Times New Roman" pitchFamily="18" charset="0"/>
                <a:cs typeface="Times New Roman" pitchFamily="18" charset="0"/>
                <a:hlinkClick r:id="rId2"/>
              </a:rPr>
              <a:t>    https://github.com/prajnasb/observations/tree/master/experiements/data</a:t>
            </a:r>
            <a:r>
              <a:rPr lang="en-US" sz="2000" dirty="0">
                <a:latin typeface="Times New Roman" pitchFamily="18" charset="0"/>
                <a:cs typeface="Times New Roman" pitchFamily="18" charset="0"/>
              </a:rPr>
              <a:t>, of people with and without masks.</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There are 690 images with masks and 686 images without masks to categorize the class of images dataset.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11</a:t>
            </a:r>
            <a:endParaRPr lang="en-IN" sz="1600" b="1" dirty="0">
              <a:latin typeface="Cambria" pitchFamily="18" charset="0"/>
              <a:ea typeface="Cambria" pitchFamily="18" charset="0"/>
            </a:endParaRPr>
          </a:p>
        </p:txBody>
      </p:sp>
      <p:sp>
        <p:nvSpPr>
          <p:cNvPr id="5" name="Rectangle: Rounded Corners 4"/>
          <p:cNvSpPr/>
          <p:nvPr/>
        </p:nvSpPr>
        <p:spPr>
          <a:xfrm>
            <a:off x="-66675" y="239253"/>
            <a:ext cx="4176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Literature Survey</a:t>
            </a:r>
            <a:endParaRPr lang="en-IN" sz="4000" dirty="0">
              <a:solidFill>
                <a:schemeClr val="bg1"/>
              </a:solidFill>
            </a:endParaRPr>
          </a:p>
        </p:txBody>
      </p:sp>
      <p:graphicFrame>
        <p:nvGraphicFramePr>
          <p:cNvPr id="7" name="Table 6"/>
          <p:cNvGraphicFramePr>
            <a:graphicFrameLocks noGrp="1"/>
          </p:cNvGraphicFramePr>
          <p:nvPr/>
        </p:nvGraphicFramePr>
        <p:xfrm>
          <a:off x="150813" y="1250950"/>
          <a:ext cx="11898434" cy="5054721"/>
        </p:xfrm>
        <a:graphic>
          <a:graphicData uri="http://schemas.openxmlformats.org/drawingml/2006/table">
            <a:tbl>
              <a:tblPr firstRow="1" firstCol="1" bandRow="1">
                <a:tableStyleId>{7DF18680-E054-41AD-8BC1-D1AEF772440D}</a:tableStyleId>
              </a:tblPr>
              <a:tblGrid>
                <a:gridCol w="898058">
                  <a:extLst>
                    <a:ext uri="{9D8B030D-6E8A-4147-A177-3AD203B41FA5}">
                      <a16:colId xmlns:a16="http://schemas.microsoft.com/office/drawing/2014/main" val="20000"/>
                    </a:ext>
                  </a:extLst>
                </a:gridCol>
                <a:gridCol w="1415772">
                  <a:extLst>
                    <a:ext uri="{9D8B030D-6E8A-4147-A177-3AD203B41FA5}">
                      <a16:colId xmlns:a16="http://schemas.microsoft.com/office/drawing/2014/main" val="20001"/>
                    </a:ext>
                  </a:extLst>
                </a:gridCol>
                <a:gridCol w="2349389">
                  <a:extLst>
                    <a:ext uri="{9D8B030D-6E8A-4147-A177-3AD203B41FA5}">
                      <a16:colId xmlns:a16="http://schemas.microsoft.com/office/drawing/2014/main" val="20002"/>
                    </a:ext>
                  </a:extLst>
                </a:gridCol>
                <a:gridCol w="1783539">
                  <a:extLst>
                    <a:ext uri="{9D8B030D-6E8A-4147-A177-3AD203B41FA5}">
                      <a16:colId xmlns:a16="http://schemas.microsoft.com/office/drawing/2014/main" val="20003"/>
                    </a:ext>
                  </a:extLst>
                </a:gridCol>
                <a:gridCol w="1860630">
                  <a:extLst>
                    <a:ext uri="{9D8B030D-6E8A-4147-A177-3AD203B41FA5}">
                      <a16:colId xmlns:a16="http://schemas.microsoft.com/office/drawing/2014/main" val="20004"/>
                    </a:ext>
                  </a:extLst>
                </a:gridCol>
                <a:gridCol w="1819275">
                  <a:extLst>
                    <a:ext uri="{9D8B030D-6E8A-4147-A177-3AD203B41FA5}">
                      <a16:colId xmlns:a16="http://schemas.microsoft.com/office/drawing/2014/main" val="20005"/>
                    </a:ext>
                  </a:extLst>
                </a:gridCol>
                <a:gridCol w="1771771">
                  <a:extLst>
                    <a:ext uri="{9D8B030D-6E8A-4147-A177-3AD203B41FA5}">
                      <a16:colId xmlns:a16="http://schemas.microsoft.com/office/drawing/2014/main" val="20006"/>
                    </a:ext>
                  </a:extLst>
                </a:gridCol>
              </a:tblGrid>
              <a:tr h="368978">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Reference</a:t>
                      </a: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Journal</a:t>
                      </a:r>
                      <a:r>
                        <a:rPr lang="en-IN" sz="1200" b="1" baseline="0" dirty="0">
                          <a:effectLst/>
                          <a:latin typeface="Times New Roman" pitchFamily="18" charset="0"/>
                          <a:ea typeface="Times New Roman" panose="02020603050405020304" pitchFamily="18" charset="0"/>
                          <a:cs typeface="Times New Roman" pitchFamily="18" charset="0"/>
                        </a:rPr>
                        <a:t> Name</a:t>
                      </a:r>
                      <a:endParaRPr lang="en-IN" sz="1200" b="1"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Title</a:t>
                      </a:r>
                    </a:p>
                  </a:txBody>
                  <a:tcPr marL="34987" marR="34987" marT="0" marB="0" anchor="ctr"/>
                </a:tc>
                <a:tc>
                  <a:txBody>
                    <a:bodyPr/>
                    <a:lstStyle/>
                    <a:p>
                      <a:pPr marL="0" marR="0" indent="0" algn="ctr" defTabSz="914400" rtl="0" eaLnBrk="1" fontAlgn="auto" latinLnBrk="0" hangingPunct="1">
                        <a:lnSpc>
                          <a:spcPct val="105000"/>
                        </a:lnSpc>
                        <a:spcBef>
                          <a:spcPts val="0"/>
                        </a:spcBef>
                        <a:spcAft>
                          <a:spcPts val="1000"/>
                        </a:spcAft>
                        <a:buClrTx/>
                        <a:buSzTx/>
                        <a:buFontTx/>
                        <a:buNone/>
                        <a:tabLst/>
                        <a:defRPr/>
                      </a:pPr>
                      <a:r>
                        <a:rPr lang="en-IN" sz="1200" b="1" dirty="0">
                          <a:effectLst/>
                          <a:latin typeface="Times New Roman" pitchFamily="18" charset="0"/>
                          <a:ea typeface="Times New Roman" panose="02020603050405020304" pitchFamily="18" charset="0"/>
                          <a:cs typeface="Times New Roman" pitchFamily="18" charset="0"/>
                        </a:rPr>
                        <a:t>Dataset</a:t>
                      </a: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Approach</a:t>
                      </a:r>
                    </a:p>
                  </a:txBody>
                  <a:tcPr marL="34987" marR="34987" marT="0" marB="0" anchor="ctr"/>
                </a:tc>
                <a:tc>
                  <a:txBody>
                    <a:bodyPr/>
                    <a:lstStyle/>
                    <a:p>
                      <a:pPr marL="0" marR="0" indent="0" algn="ctr" defTabSz="914400" rtl="0" eaLnBrk="1" fontAlgn="auto" latinLnBrk="0" hangingPunct="1">
                        <a:lnSpc>
                          <a:spcPct val="105000"/>
                        </a:lnSpc>
                        <a:spcBef>
                          <a:spcPts val="0"/>
                        </a:spcBef>
                        <a:spcAft>
                          <a:spcPts val="1000"/>
                        </a:spcAft>
                        <a:buClrTx/>
                        <a:buSzTx/>
                        <a:buFontTx/>
                        <a:buNone/>
                        <a:tabLst/>
                        <a:defRPr/>
                      </a:pPr>
                      <a:r>
                        <a:rPr lang="en-IN" sz="1200" b="1" dirty="0">
                          <a:effectLst/>
                          <a:latin typeface="Times New Roman" pitchFamily="18" charset="0"/>
                          <a:ea typeface="Times New Roman" panose="02020603050405020304" pitchFamily="18" charset="0"/>
                          <a:cs typeface="Times New Roman" pitchFamily="18" charset="0"/>
                        </a:rPr>
                        <a:t>Advantages</a:t>
                      </a: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Observations/Limitations</a:t>
                      </a:r>
                    </a:p>
                  </a:txBody>
                  <a:tcPr marL="34987" marR="34987" marT="0" marB="0" anchor="ctr"/>
                </a:tc>
                <a:extLst>
                  <a:ext uri="{0D108BD9-81ED-4DB2-BD59-A6C34878D82A}">
                    <a16:rowId xmlns:a16="http://schemas.microsoft.com/office/drawing/2014/main" val="10000"/>
                  </a:ext>
                </a:extLst>
              </a:tr>
              <a:tr h="562289">
                <a:tc>
                  <a:txBody>
                    <a:bodyPr/>
                    <a:lstStyle/>
                    <a:p>
                      <a:pPr algn="ctr">
                        <a:lnSpc>
                          <a:spcPct val="100000"/>
                        </a:lnSpc>
                        <a:spcAft>
                          <a:spcPts val="1000"/>
                        </a:spcAft>
                      </a:pPr>
                      <a:r>
                        <a:rPr lang="en-US" sz="1200" b="0" i="0" kern="1200" dirty="0">
                          <a:solidFill>
                            <a:schemeClr val="lt1"/>
                          </a:solidFill>
                          <a:latin typeface="Times New Roman" pitchFamily="18" charset="0"/>
                          <a:ea typeface="+mn-ea"/>
                          <a:cs typeface="Times New Roman" pitchFamily="18" charset="0"/>
                        </a:rPr>
                        <a:t>Park, S. et al. (2021)</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Image and Vision Computing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Robust Face Detection under Occlusion with Convolutional Neural Networks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Custom dataset, WIDER FACE</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Convolutional Neural Networks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marL="0" marR="0" indent="0" algn="ctr" defTabSz="914400" rtl="0" eaLnBrk="1" fontAlgn="auto" latinLnBrk="0" hangingPunct="1">
                        <a:lnSpc>
                          <a:spcPct val="100000"/>
                        </a:lnSpc>
                        <a:spcBef>
                          <a:spcPts val="0"/>
                        </a:spcBef>
                        <a:spcAft>
                          <a:spcPts val="1000"/>
                        </a:spcAft>
                        <a:buClrTx/>
                        <a:buSzTx/>
                        <a:buFontTx/>
                        <a:buNone/>
                        <a:tabLst/>
                        <a:defRPr/>
                      </a:pPr>
                      <a:r>
                        <a:rPr lang="en-US" sz="1200" b="0" i="0" kern="1200" dirty="0">
                          <a:solidFill>
                            <a:schemeClr val="dk1"/>
                          </a:solidFill>
                          <a:latin typeface="Times New Roman" pitchFamily="18" charset="0"/>
                          <a:ea typeface="+mn-ea"/>
                          <a:cs typeface="Times New Roman" pitchFamily="18" charset="0"/>
                        </a:rPr>
                        <a:t>Robust face detection under occlusion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Limited evaluation on masked face detection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1"/>
                  </a:ext>
                </a:extLst>
              </a:tr>
              <a:tr h="562289">
                <a:tc>
                  <a:txBody>
                    <a:bodyPr/>
                    <a:lstStyle/>
                    <a:p>
                      <a:pPr algn="ctr">
                        <a:lnSpc>
                          <a:spcPct val="100000"/>
                        </a:lnSpc>
                        <a:spcAft>
                          <a:spcPts val="1000"/>
                        </a:spcAft>
                      </a:pPr>
                      <a:r>
                        <a:rPr lang="en-US" sz="1200" b="0" i="0" kern="1200" dirty="0">
                          <a:solidFill>
                            <a:schemeClr val="lt1"/>
                          </a:solidFill>
                          <a:latin typeface="Times New Roman" pitchFamily="18" charset="0"/>
                          <a:ea typeface="+mn-ea"/>
                          <a:cs typeface="Times New Roman" pitchFamily="18" charset="0"/>
                        </a:rPr>
                        <a:t>Wu, X. et al. (2021)</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IEEE Transactions on Image Processing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Masked Face Detection using Feature Fusion and Attention Mechanism</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Custom dataset, MAFA</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Feature Fusion + Attention Mechanism</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Improved detection performance with attention-guided feature fusion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Higher computational complexity</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2"/>
                  </a:ext>
                </a:extLst>
              </a:tr>
              <a:tr h="562289">
                <a:tc>
                  <a:txBody>
                    <a:bodyPr/>
                    <a:lstStyle/>
                    <a:p>
                      <a:pPr algn="ctr">
                        <a:lnSpc>
                          <a:spcPct val="100000"/>
                        </a:lnSpc>
                        <a:spcAft>
                          <a:spcPts val="1000"/>
                        </a:spcAft>
                      </a:pPr>
                      <a:r>
                        <a:rPr lang="en-US" sz="1200" b="0" i="0" kern="1200" dirty="0">
                          <a:solidFill>
                            <a:schemeClr val="lt1"/>
                          </a:solidFill>
                          <a:latin typeface="Times New Roman" pitchFamily="18" charset="0"/>
                          <a:ea typeface="+mn-ea"/>
                          <a:cs typeface="Times New Roman" pitchFamily="18" charset="0"/>
                        </a:rPr>
                        <a:t>Yang, L.et al. (2021)</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Information Fusion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Masked Face Detection based on Transfer Learning and Ensemble Learning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Custom dataset, FDDB, MAFA</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Transfer Learning + Ensemble Learning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Enhanced robustness to diverse masks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Increased complexity due to ensemble learning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3"/>
                  </a:ext>
                </a:extLst>
              </a:tr>
              <a:tr h="374860">
                <a:tc>
                  <a:txBody>
                    <a:bodyPr/>
                    <a:lstStyle/>
                    <a:p>
                      <a:pPr algn="ctr">
                        <a:lnSpc>
                          <a:spcPct val="100000"/>
                        </a:lnSpc>
                        <a:spcAft>
                          <a:spcPts val="1000"/>
                        </a:spcAft>
                      </a:pPr>
                      <a:r>
                        <a:rPr lang="en-US" sz="1200" b="0" i="0" kern="1200" dirty="0" err="1">
                          <a:solidFill>
                            <a:schemeClr val="lt1"/>
                          </a:solidFill>
                          <a:latin typeface="Times New Roman" pitchFamily="18" charset="0"/>
                          <a:ea typeface="+mn-ea"/>
                          <a:cs typeface="Times New Roman" pitchFamily="18" charset="0"/>
                        </a:rPr>
                        <a:t>Gao</a:t>
                      </a:r>
                      <a:r>
                        <a:rPr lang="en-US" sz="1200" b="0" i="0" kern="1200" dirty="0">
                          <a:solidFill>
                            <a:schemeClr val="lt1"/>
                          </a:solidFill>
                          <a:latin typeface="Times New Roman" pitchFamily="18" charset="0"/>
                          <a:ea typeface="+mn-ea"/>
                          <a:cs typeface="Times New Roman" pitchFamily="18" charset="0"/>
                        </a:rPr>
                        <a:t>, M. et al. (2021)</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Neurocomputing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Deep Face Recognition under Mask Occlusion with Fine-tuned Models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marL="0" marR="0" indent="0" algn="ctr" defTabSz="914400" rtl="0" eaLnBrk="1" fontAlgn="auto" latinLnBrk="0" hangingPunct="1">
                        <a:lnSpc>
                          <a:spcPct val="100000"/>
                        </a:lnSpc>
                        <a:spcBef>
                          <a:spcPts val="0"/>
                        </a:spcBef>
                        <a:spcAft>
                          <a:spcPts val="1000"/>
                        </a:spcAft>
                        <a:buClrTx/>
                        <a:buSzTx/>
                        <a:buFontTx/>
                        <a:buNone/>
                        <a:tabLst/>
                        <a:defRPr/>
                      </a:pPr>
                      <a:r>
                        <a:rPr lang="en-US" sz="1200" b="0" i="0" kern="1200" dirty="0">
                          <a:solidFill>
                            <a:schemeClr val="dk1"/>
                          </a:solidFill>
                          <a:latin typeface="Times New Roman" pitchFamily="18" charset="0"/>
                          <a:ea typeface="+mn-ea"/>
                          <a:cs typeface="Times New Roman" pitchFamily="18" charset="0"/>
                        </a:rPr>
                        <a:t>Custom dataset, LFW</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Deep Learning + Fine-tuning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High accuracy in recognizing masked faces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i="0" kern="1200" dirty="0">
                          <a:solidFill>
                            <a:schemeClr val="dk1"/>
                          </a:solidFill>
                          <a:latin typeface="Times New Roman" pitchFamily="18" charset="0"/>
                          <a:ea typeface="+mn-ea"/>
                          <a:cs typeface="Times New Roman" pitchFamily="18" charset="0"/>
                        </a:rPr>
                        <a:t>Fine-tuning dependency on initial model quality</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4"/>
                  </a:ext>
                </a:extLst>
              </a:tr>
              <a:tr h="562289">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Zhang, J. et al. (2022)</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Neurocomputing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Improved Face Detection under Mask Occlusion with Enhanced Feature Extraction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Private masked face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Feature Extraction + CNN</a:t>
                      </a:r>
                    </a:p>
                  </a:txBody>
                  <a:tcPr marL="34987" marR="34987" marT="0" marB="0" anchor="ctr"/>
                </a:tc>
                <a:tc>
                  <a:txBody>
                    <a:bodyPr/>
                    <a:lstStyle/>
                    <a:p>
                      <a:pPr marL="0" marR="0" indent="0" algn="ctr" defTabSz="914400" rtl="0" eaLnBrk="1" fontAlgn="auto" latinLnBrk="0" hangingPunct="1">
                        <a:lnSpc>
                          <a:spcPct val="100000"/>
                        </a:lnSpc>
                        <a:spcBef>
                          <a:spcPts val="0"/>
                        </a:spcBef>
                        <a:spcAft>
                          <a:spcPts val="1000"/>
                        </a:spcAft>
                        <a:buClrTx/>
                        <a:buSzTx/>
                        <a:buFontTx/>
                        <a:buNone/>
                        <a:tabLst/>
                        <a:defRPr/>
                      </a:pPr>
                      <a:r>
                        <a:rPr lang="en-US" sz="1200" b="0" dirty="0">
                          <a:effectLst/>
                          <a:latin typeface="Times New Roman" pitchFamily="18" charset="0"/>
                          <a:ea typeface="Times New Roman" panose="02020603050405020304" pitchFamily="18" charset="0"/>
                          <a:cs typeface="Times New Roman" pitchFamily="18" charset="0"/>
                        </a:rPr>
                        <a:t>Enhanced feature extraction for masked face detection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Lack of comparison with state-of-the-art methods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5"/>
                  </a:ext>
                </a:extLst>
              </a:tr>
              <a:tr h="562289">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Liang, X. et al. (2022)</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IEEE Transactions on Circuits and Systems for Video Technology</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Face Detection and Recognition under Masked Conditions: A Survey</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N/A</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Survey</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Comprehensive survey of face detection and recognition techniques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Limited coverage of recent advances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6"/>
                  </a:ext>
                </a:extLst>
              </a:tr>
              <a:tr h="562289">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Wang, H. et al. (2022)</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Pattern Recognition</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Face Detection with Masks using Attention-guided Convolutional Neural Networks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Custom dataset with attention masks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Convolutional Neural Networks + Attention Mechanism</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Improved focus on masked regions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Higher computational cost</a:t>
                      </a:r>
                    </a:p>
                  </a:txBody>
                  <a:tcPr marL="34987" marR="34987" marT="0" marB="0" anchor="ctr"/>
                </a:tc>
                <a:extLst>
                  <a:ext uri="{0D108BD9-81ED-4DB2-BD59-A6C34878D82A}">
                    <a16:rowId xmlns:a16="http://schemas.microsoft.com/office/drawing/2014/main" val="10007"/>
                  </a:ext>
                </a:extLst>
              </a:tr>
              <a:tr h="562289">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Kim, J. et al. (2022)</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Journal of Visual Communication and Image Representation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Face Detection and Recognition in the Presence of Masks: A Review</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marL="0" marR="0" indent="0" algn="ctr" defTabSz="914400" rtl="0" eaLnBrk="1" fontAlgn="auto" latinLnBrk="0" hangingPunct="1">
                        <a:lnSpc>
                          <a:spcPct val="100000"/>
                        </a:lnSpc>
                        <a:spcBef>
                          <a:spcPts val="0"/>
                        </a:spcBef>
                        <a:spcAft>
                          <a:spcPts val="1000"/>
                        </a:spcAft>
                        <a:buClrTx/>
                        <a:buSzTx/>
                        <a:buFontTx/>
                        <a:buNone/>
                        <a:tabLst/>
                        <a:defRPr/>
                      </a:pPr>
                      <a:r>
                        <a:rPr lang="en-IN" sz="1200" b="0" dirty="0">
                          <a:effectLst/>
                          <a:latin typeface="Times New Roman" pitchFamily="18" charset="0"/>
                          <a:ea typeface="Times New Roman" panose="02020603050405020304" pitchFamily="18" charset="0"/>
                          <a:cs typeface="Times New Roman" pitchFamily="18" charset="0"/>
                        </a:rPr>
                        <a:t>N/A</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Review</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In-depth review of challenges and solutions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Lack of empirical validation</a:t>
                      </a:r>
                    </a:p>
                  </a:txBody>
                  <a:tcPr marL="34987" marR="34987" marT="0" marB="0" anchor="ctr"/>
                </a:tc>
                <a:extLst>
                  <a:ext uri="{0D108BD9-81ED-4DB2-BD59-A6C34878D82A}">
                    <a16:rowId xmlns:a16="http://schemas.microsoft.com/office/drawing/2014/main" val="10008"/>
                  </a:ext>
                </a:extLst>
              </a:tr>
              <a:tr h="374860">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Chen, H.et al. (2022)</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Journal of Real-Time Image Processing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Deep Learning Approaches for Face Detection under Mask Occlusion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Custom dataset, FDDB</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Deep Learning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Robust deep learning-based face detection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Limited generalization to unseen mask types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12</a:t>
            </a:r>
            <a:endParaRPr lang="en-IN" sz="1600" b="1" dirty="0">
              <a:latin typeface="Cambria" pitchFamily="18" charset="0"/>
              <a:ea typeface="Cambria" pitchFamily="18" charset="0"/>
            </a:endParaRPr>
          </a:p>
        </p:txBody>
      </p:sp>
      <p:sp>
        <p:nvSpPr>
          <p:cNvPr id="11" name="Rectangle: Rounded Corners 4"/>
          <p:cNvSpPr/>
          <p:nvPr/>
        </p:nvSpPr>
        <p:spPr>
          <a:xfrm>
            <a:off x="28575" y="201153"/>
            <a:ext cx="2700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cs typeface="Calibri" pitchFamily="34" charset="0"/>
              </a:rPr>
              <a:t>Conclusion</a:t>
            </a:r>
            <a:endParaRPr lang="en-IN" sz="4000" dirty="0">
              <a:solidFill>
                <a:schemeClr val="bg1"/>
              </a:solidFill>
            </a:endParaRPr>
          </a:p>
        </p:txBody>
      </p:sp>
      <p:sp>
        <p:nvSpPr>
          <p:cNvPr id="27655" name="TextBox 6"/>
          <p:cNvSpPr txBox="1">
            <a:spLocks noChangeArrowheads="1"/>
          </p:cNvSpPr>
          <p:nvPr/>
        </p:nvSpPr>
        <p:spPr bwMode="auto">
          <a:xfrm>
            <a:off x="74613" y="1074738"/>
            <a:ext cx="11984037" cy="3785652"/>
          </a:xfrm>
          <a:prstGeom prst="rect">
            <a:avLst/>
          </a:prstGeom>
          <a:noFill/>
          <a:ln w="9525">
            <a:noFill/>
            <a:miter lim="800000"/>
            <a:headEnd/>
            <a:tailEnd/>
          </a:ln>
        </p:spPr>
        <p:txBody>
          <a:bodyPr>
            <a:spAutoFit/>
          </a:bodyPr>
          <a:lstStyle/>
          <a:p>
            <a:pPr algn="just">
              <a:lnSpc>
                <a:spcPct val="150000"/>
              </a:lnSpc>
              <a:buFont typeface="Arial" pitchFamily="34" charset="0"/>
              <a:buChar char="•"/>
            </a:pPr>
            <a:r>
              <a:rPr lang="en-US" sz="2000" dirty="0">
                <a:latin typeface="Times New Roman" pitchFamily="18" charset="0"/>
                <a:cs typeface="Times New Roman" pitchFamily="18" charset="0"/>
              </a:rPr>
              <a:t> The proposed research describes the methodology for detecting masked faces by modifying the MobileNetV2  </a:t>
            </a:r>
          </a:p>
          <a:p>
            <a:pPr algn="just">
              <a:lnSpc>
                <a:spcPct val="150000"/>
              </a:lnSpc>
            </a:pPr>
            <a:r>
              <a:rPr lang="en-US" sz="2000" dirty="0">
                <a:latin typeface="Times New Roman" pitchFamily="18" charset="0"/>
                <a:cs typeface="Times New Roman" pitchFamily="18" charset="0"/>
              </a:rPr>
              <a:t>  method and the CAFFE model.</a:t>
            </a:r>
          </a:p>
          <a:p>
            <a:pPr algn="just">
              <a:lnSpc>
                <a:spcPct val="150000"/>
              </a:lnSpc>
              <a:buFont typeface="Arial" pitchFamily="34" charset="0"/>
              <a:buChar char="•"/>
            </a:pPr>
            <a:r>
              <a:rPr lang="en-US" sz="2000" dirty="0">
                <a:latin typeface="Times New Roman" pitchFamily="18" charset="0"/>
                <a:cs typeface="Times New Roman" pitchFamily="18" charset="0"/>
              </a:rPr>
              <a:t> Our research implemented the proposed model with software using Python 3.9 related libraries such as </a:t>
            </a:r>
          </a:p>
          <a:p>
            <a:pPr algn="just">
              <a:lnSpc>
                <a:spcPct val="150000"/>
              </a:lnSpc>
            </a:pPr>
            <a:r>
              <a:rPr lang="en-US" sz="2000" dirty="0">
                <a:latin typeface="Times New Roman" pitchFamily="18" charset="0"/>
                <a:cs typeface="Times New Roman" pitchFamily="18" charset="0"/>
              </a:rPr>
              <a:t>  TensorFlow, Pandas, Keras, </a:t>
            </a:r>
            <a:r>
              <a:rPr lang="en-US" sz="2000" dirty="0" err="1">
                <a:latin typeface="Times New Roman" pitchFamily="18" charset="0"/>
                <a:cs typeface="Times New Roman" pitchFamily="18" charset="0"/>
              </a:rPr>
              <a:t>scikit</a:t>
            </a:r>
            <a:r>
              <a:rPr lang="en-US" sz="2000" dirty="0">
                <a:latin typeface="Times New Roman" pitchFamily="18" charset="0"/>
                <a:cs typeface="Times New Roman" pitchFamily="18" charset="0"/>
              </a:rPr>
              <a:t> learn (</a:t>
            </a:r>
            <a:r>
              <a:rPr lang="en-US" sz="2000" dirty="0" err="1">
                <a:latin typeface="Times New Roman" pitchFamily="18" charset="0"/>
                <a:cs typeface="Times New Roman" pitchFamily="18" charset="0"/>
              </a:rPr>
              <a:t>sklearn</a:t>
            </a:r>
            <a:r>
              <a:rPr lang="en-US" sz="2000" dirty="0">
                <a:latin typeface="Times New Roman" pitchFamily="18" charset="0"/>
                <a:cs typeface="Times New Roman" pitchFamily="18" charset="0"/>
              </a:rPr>
              <a:t>) and OpenCV.</a:t>
            </a:r>
          </a:p>
          <a:p>
            <a:pPr algn="just">
              <a:lnSpc>
                <a:spcPct val="150000"/>
              </a:lnSpc>
              <a:buFont typeface="Arial" pitchFamily="34" charset="0"/>
              <a:buChar char="•"/>
            </a:pPr>
            <a:r>
              <a:rPr lang="en-US" sz="2000" dirty="0">
                <a:latin typeface="Times New Roman" pitchFamily="18" charset="0"/>
                <a:cs typeface="Times New Roman" pitchFamily="18" charset="0"/>
              </a:rPr>
              <a:t> The transfer learning technique helped the model to distinguish between people wearing or not wearing a face </a:t>
            </a:r>
          </a:p>
          <a:p>
            <a:pPr algn="just">
              <a:lnSpc>
                <a:spcPct val="150000"/>
              </a:lnSpc>
            </a:pPr>
            <a:r>
              <a:rPr lang="en-US" sz="2000" dirty="0">
                <a:latin typeface="Times New Roman" pitchFamily="18" charset="0"/>
                <a:cs typeface="Times New Roman" pitchFamily="18" charset="0"/>
              </a:rPr>
              <a:t>  mask.</a:t>
            </a:r>
          </a:p>
          <a:p>
            <a:pPr algn="just">
              <a:lnSpc>
                <a:spcPct val="150000"/>
              </a:lnSpc>
              <a:buFont typeface="Arial" pitchFamily="34" charset="0"/>
              <a:buChar char="•"/>
            </a:pPr>
            <a:r>
              <a:rPr lang="en-US" sz="2000" dirty="0">
                <a:latin typeface="Times New Roman" pitchFamily="18" charset="0"/>
                <a:cs typeface="Times New Roman" pitchFamily="18" charset="0"/>
              </a:rPr>
              <a:t> The proposed methodology worked substantially very well on the dataset with an accuracy of 99.64%.</a:t>
            </a:r>
          </a:p>
          <a:p>
            <a:pPr algn="just">
              <a:lnSpc>
                <a:spcPct val="150000"/>
              </a:lnSpc>
              <a:buFont typeface="Arial" pitchFamily="34" charset="0"/>
              <a:buChar char="•"/>
            </a:pPr>
            <a:r>
              <a:rPr lang="en-US" sz="2000" dirty="0">
                <a:latin typeface="Times New Roman" pitchFamily="18" charset="0"/>
                <a:cs typeface="Times New Roman" pitchFamily="18" charset="0"/>
              </a:rPr>
              <a:t> Our model is less accurate with sudden facial movements in real-time video images, than it is with still faces.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13</a:t>
            </a:r>
            <a:endParaRPr lang="en-IN" sz="1600" b="1" dirty="0">
              <a:latin typeface="Cambria" pitchFamily="18" charset="0"/>
              <a:ea typeface="Cambria" pitchFamily="18" charset="0"/>
            </a:endParaRPr>
          </a:p>
        </p:txBody>
      </p:sp>
      <p:sp>
        <p:nvSpPr>
          <p:cNvPr id="6" name="Rectangle: Rounded Corners 4"/>
          <p:cNvSpPr/>
          <p:nvPr/>
        </p:nvSpPr>
        <p:spPr>
          <a:xfrm>
            <a:off x="-3" y="182103"/>
            <a:ext cx="2808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2</a:t>
            </a:r>
            <a:r>
              <a:rPr lang="en-US" altLang="en-US" sz="4000" b="1" baseline="30000"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nd </a:t>
            </a: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Chapter</a:t>
            </a:r>
            <a:endParaRPr lang="en-IN" sz="4000" dirty="0">
              <a:solidFill>
                <a:schemeClr val="bg1"/>
              </a:solidFill>
            </a:endParaRPr>
          </a:p>
        </p:txBody>
      </p:sp>
      <p:sp>
        <p:nvSpPr>
          <p:cNvPr id="8" name="Rectangle: Rounded Corners 4"/>
          <p:cNvSpPr/>
          <p:nvPr/>
        </p:nvSpPr>
        <p:spPr>
          <a:xfrm>
            <a:off x="1428751" y="1096502"/>
            <a:ext cx="10692000" cy="1827673"/>
          </a:xfrm>
          <a:prstGeom prst="roundRect">
            <a:avLst/>
          </a:prstGeom>
          <a:solidFill>
            <a:srgbClr val="002060"/>
          </a:solidFill>
          <a:ln>
            <a:solidFill>
              <a:srgbClr val="002060"/>
            </a:solidFill>
          </a:ln>
          <a:scene3d>
            <a:camera prst="isometricOffAxis1Right">
              <a:rot lat="1080000" lon="21594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3200" b="1" dirty="0">
                <a:latin typeface="Times New Roman" pitchFamily="18" charset="0"/>
                <a:cs typeface="Times New Roman" pitchFamily="18" charset="0"/>
              </a:rPr>
              <a:t>Masked face age and gender identification using CAFFE-modified MobileNetV2 on photo and real-time video images by transfer learning and deep learning techniques</a:t>
            </a:r>
            <a:endParaRPr lang="en-IN" b="1" dirty="0">
              <a:solidFill>
                <a:schemeClr val="bg1"/>
              </a:solidFill>
              <a:latin typeface="Times New Roman" pitchFamily="18" charset="0"/>
              <a:cs typeface="Times New Roman" pitchFamily="18" charset="0"/>
            </a:endParaRPr>
          </a:p>
        </p:txBody>
      </p:sp>
      <p:sp>
        <p:nvSpPr>
          <p:cNvPr id="29704" name="Rectangle 6"/>
          <p:cNvSpPr>
            <a:spLocks noChangeArrowheads="1"/>
          </p:cNvSpPr>
          <p:nvPr/>
        </p:nvSpPr>
        <p:spPr bwMode="auto">
          <a:xfrm>
            <a:off x="161925" y="3005938"/>
            <a:ext cx="11877675" cy="2862322"/>
          </a:xfrm>
          <a:prstGeom prst="rect">
            <a:avLst/>
          </a:prstGeom>
          <a:noFill/>
          <a:ln w="9525">
            <a:noFill/>
            <a:miter lim="800000"/>
            <a:headEnd/>
            <a:tailEnd/>
          </a:ln>
        </p:spPr>
        <p:txBody>
          <a:bodyPr>
            <a:spAutoFit/>
          </a:bodyPr>
          <a:lstStyle/>
          <a:p>
            <a:pPr algn="just">
              <a:buFont typeface="Arial" pitchFamily="34" charset="0"/>
              <a:buChar char="•"/>
            </a:pPr>
            <a:r>
              <a:rPr lang="en-US" sz="2000" dirty="0">
                <a:latin typeface="Times New Roman" pitchFamily="18" charset="0"/>
                <a:cs typeface="Times New Roman" pitchFamily="18" charset="0"/>
              </a:rPr>
              <a:t> One of the most challenging factors related to masked face age and gender identification (MFAGI) is developing</a:t>
            </a:r>
          </a:p>
          <a:p>
            <a:pPr algn="just"/>
            <a:r>
              <a:rPr lang="en-US" sz="2000" dirty="0">
                <a:latin typeface="Times New Roman" pitchFamily="18" charset="0"/>
                <a:cs typeface="Times New Roman" pitchFamily="18" charset="0"/>
              </a:rPr>
              <a:t>  a technique to quickly carry out identification and maintain accuracy without needing people to remove their  </a:t>
            </a:r>
          </a:p>
          <a:p>
            <a:pPr algn="just"/>
            <a:r>
              <a:rPr lang="en-US" sz="2000" dirty="0">
                <a:latin typeface="Times New Roman" pitchFamily="18" charset="0"/>
                <a:cs typeface="Times New Roman" pitchFamily="18" charset="0"/>
              </a:rPr>
              <a:t>  masks.</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 eyes, forehead and important frontal features including the ears were the main focus of this investigation.</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We evaluating different MFAGI techniques and our CMNV2 proposed approach.</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These models were used to classify masked faces of people among different classes.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14</a:t>
            </a:r>
            <a:endParaRPr lang="en-IN" sz="1600" b="1" dirty="0">
              <a:latin typeface="Cambria" pitchFamily="18" charset="0"/>
              <a:ea typeface="Cambria" pitchFamily="18" charset="0"/>
            </a:endParaRPr>
          </a:p>
        </p:txBody>
      </p:sp>
      <p:sp>
        <p:nvSpPr>
          <p:cNvPr id="7" name="Rectangle: Rounded Corners 4"/>
          <p:cNvSpPr/>
          <p:nvPr/>
        </p:nvSpPr>
        <p:spPr>
          <a:xfrm>
            <a:off x="-3" y="182103"/>
            <a:ext cx="2808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2</a:t>
            </a:r>
            <a:r>
              <a:rPr lang="en-US" altLang="en-US" sz="4000" b="1" baseline="30000"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nd </a:t>
            </a: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Chapter</a:t>
            </a:r>
            <a:endParaRPr lang="en-IN" sz="4000" dirty="0">
              <a:solidFill>
                <a:schemeClr val="bg1"/>
              </a:solidFill>
            </a:endParaRPr>
          </a:p>
        </p:txBody>
      </p:sp>
      <p:sp>
        <p:nvSpPr>
          <p:cNvPr id="30727" name="Rectangle 7"/>
          <p:cNvSpPr>
            <a:spLocks noChangeArrowheads="1"/>
          </p:cNvSpPr>
          <p:nvPr/>
        </p:nvSpPr>
        <p:spPr bwMode="auto">
          <a:xfrm>
            <a:off x="161925" y="1047750"/>
            <a:ext cx="11687175" cy="2862322"/>
          </a:xfrm>
          <a:prstGeom prst="rect">
            <a:avLst/>
          </a:prstGeom>
          <a:noFill/>
          <a:ln w="9525">
            <a:noFill/>
            <a:miter lim="800000"/>
            <a:headEnd/>
            <a:tailEnd/>
          </a:ln>
        </p:spPr>
        <p:txBody>
          <a:bodyPr>
            <a:spAutoFit/>
          </a:bodyPr>
          <a:lstStyle/>
          <a:p>
            <a:pPr algn="just">
              <a:buFont typeface="Arial" pitchFamily="34" charset="0"/>
              <a:buChar char="•"/>
            </a:pPr>
            <a:r>
              <a:rPr lang="en-US" sz="2000" dirty="0">
                <a:latin typeface="Times New Roman" pitchFamily="18" charset="0"/>
                <a:cs typeface="Times New Roman" pitchFamily="18" charset="0"/>
              </a:rPr>
              <a:t> This approach developed a Python model that was to train and evaluating on 12,160 masked face images.</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Using deep learning (DL) and a transfer learning approach, we developed a unique novel approach to image </a:t>
            </a:r>
          </a:p>
          <a:p>
            <a:pPr algn="just"/>
            <a:r>
              <a:rPr lang="en-US" sz="2000" dirty="0">
                <a:latin typeface="Times New Roman" pitchFamily="18" charset="0"/>
                <a:cs typeface="Times New Roman" pitchFamily="18" charset="0"/>
              </a:rPr>
              <a:t>  feature extraction.</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we want to analyze the model's predictability and capacity to effectively understand and respond to user input, which will be helpful to overall performance in the real world on unseen dataset for in-depth analysis . </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endParaRPr lang="en-US" sz="20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15</a:t>
            </a:r>
            <a:endParaRPr lang="en-IN" sz="1600" b="1" dirty="0">
              <a:latin typeface="Cambria" pitchFamily="18" charset="0"/>
              <a:ea typeface="Cambria" pitchFamily="18" charset="0"/>
            </a:endParaRPr>
          </a:p>
        </p:txBody>
      </p:sp>
      <p:sp>
        <p:nvSpPr>
          <p:cNvPr id="7" name="Rectangle: Rounded Corners 4"/>
          <p:cNvSpPr/>
          <p:nvPr/>
        </p:nvSpPr>
        <p:spPr>
          <a:xfrm>
            <a:off x="-66675" y="239253"/>
            <a:ext cx="4176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Literature Survey</a:t>
            </a:r>
            <a:endParaRPr lang="en-IN" sz="4000" dirty="0">
              <a:solidFill>
                <a:schemeClr val="bg1"/>
              </a:solidFill>
            </a:endParaRPr>
          </a:p>
        </p:txBody>
      </p:sp>
      <p:graphicFrame>
        <p:nvGraphicFramePr>
          <p:cNvPr id="10" name="Table 9"/>
          <p:cNvGraphicFramePr>
            <a:graphicFrameLocks noGrp="1"/>
          </p:cNvGraphicFramePr>
          <p:nvPr/>
        </p:nvGraphicFramePr>
        <p:xfrm>
          <a:off x="150813" y="1257300"/>
          <a:ext cx="11874500" cy="5029741"/>
        </p:xfrm>
        <a:graphic>
          <a:graphicData uri="http://schemas.openxmlformats.org/drawingml/2006/table">
            <a:tbl>
              <a:tblPr/>
              <a:tblGrid>
                <a:gridCol w="824547">
                  <a:extLst>
                    <a:ext uri="{9D8B030D-6E8A-4147-A177-3AD203B41FA5}">
                      <a16:colId xmlns:a16="http://schemas.microsoft.com/office/drawing/2014/main" val="20000"/>
                    </a:ext>
                  </a:extLst>
                </a:gridCol>
                <a:gridCol w="222504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117348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gridCol w="1829753">
                  <a:extLst>
                    <a:ext uri="{9D8B030D-6E8A-4147-A177-3AD203B41FA5}">
                      <a16:colId xmlns:a16="http://schemas.microsoft.com/office/drawing/2014/main" val="20006"/>
                    </a:ext>
                  </a:extLst>
                </a:gridCol>
              </a:tblGrid>
              <a:tr h="289644">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dirty="0">
                          <a:ln>
                            <a:noFill/>
                          </a:ln>
                          <a:solidFill>
                            <a:srgbClr val="FFFFFF"/>
                          </a:solidFill>
                          <a:effectLst/>
                          <a:latin typeface="Times New Roman" pitchFamily="18" charset="0"/>
                          <a:cs typeface="Times New Roman" pitchFamily="18" charset="0"/>
                        </a:rPr>
                        <a:t>Reference</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Journal Name</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Title</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Approach</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Advantages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Observations/Limitations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extLst>
                  <a:ext uri="{0D108BD9-81ED-4DB2-BD59-A6C34878D82A}">
                    <a16:rowId xmlns:a16="http://schemas.microsoft.com/office/drawing/2014/main" val="10000"/>
                  </a:ext>
                </a:extLst>
              </a:tr>
              <a:tr h="532707">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Chen, J. et al. (2020)</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IEEE Transactions on Image Processing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Masked Age and Gender Identification using Deep Learning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Deep Learning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Accurate age and gender identification despite masks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Limited generalization to diverse mask types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1"/>
                  </a:ext>
                </a:extLst>
              </a:tr>
              <a:tr h="65601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Wang, Z. et al. (2020)</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Computer Vision and Image Understanding</a:t>
                      </a:r>
                    </a:p>
                    <a:p>
                      <a:pPr marL="0" marR="0" lvl="0" indent="0" algn="ctr" defTabSz="914400" rtl="0" eaLnBrk="1" fontAlgn="base" latinLnBrk="0" hangingPunct="1">
                        <a:lnSpc>
                          <a:spcPct val="100000"/>
                        </a:lnSpc>
                        <a:spcBef>
                          <a:spcPct val="0"/>
                        </a:spcBef>
                        <a:spcAft>
                          <a:spcPts val="1000"/>
                        </a:spcAft>
                        <a:buClrTx/>
                        <a:buSzTx/>
                        <a:buFontTx/>
                        <a:buNone/>
                        <a:tabLst/>
                      </a:pP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Age and Gender Identification in the Presence of Masks using Transfer Learning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ts val="1000"/>
                        </a:spcAft>
                        <a:buClrTx/>
                        <a:buSzTx/>
                        <a:buFontTx/>
                        <a:buNone/>
                        <a:tabLst/>
                      </a:pP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IMDB-Wiki,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Transfer Learning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Utilization of transfer learning for robust identification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Performance dependency on source domain similarity</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extLst>
                  <a:ext uri="{0D108BD9-81ED-4DB2-BD59-A6C34878D82A}">
                    <a16:rowId xmlns:a16="http://schemas.microsoft.com/office/drawing/2014/main" val="10002"/>
                  </a:ext>
                </a:extLst>
              </a:tr>
              <a:tr h="532707">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Kim, D. et al. (2021)</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Pattern Recognition</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Masked Age and Gender Identification with Attention Mechanism</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FG-NET,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Attention Mechanism</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Improved identification accuracy with attention-guided models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Higher computational complexity</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3"/>
                  </a:ext>
                </a:extLst>
              </a:tr>
              <a:tr h="44041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Liu, Y. et al. (2021)</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IEEE Access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Comprehensive Survey of Masked Age and Gender Identification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N/A</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Survey</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In-depth review of existing techniques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Lack of empirical validation</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extLst>
                  <a:ext uri="{0D108BD9-81ED-4DB2-BD59-A6C34878D82A}">
                    <a16:rowId xmlns:a16="http://schemas.microsoft.com/office/drawing/2014/main" val="10004"/>
                  </a:ext>
                </a:extLst>
              </a:tr>
              <a:tr h="44041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FFFFFF"/>
                          </a:solidFill>
                          <a:effectLst/>
                          <a:latin typeface="Times New Roman" pitchFamily="18" charset="0"/>
                          <a:cs typeface="Times New Roman" pitchFamily="18" charset="0"/>
                        </a:rPr>
                        <a:t>Zhang, L. et al. (2021)</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Journal of Visual Communication and Image Representation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Age and Gender Identification with Masks based on Ensemble Learning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Ensemble Learning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Enhanced robustness through ensemble models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Increased computational cost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5"/>
                  </a:ext>
                </a:extLst>
              </a:tr>
              <a:tr h="532707">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Wang, Y. et al. (2021)</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Pattern Recognition Letters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Hybrid Approach for Masked Age and Gender Identification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Hybrid Approach (Traditional + Deep Learning)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Integration of traditional and deep learning methods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Complexity in parameter tuning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extLst>
                  <a:ext uri="{0D108BD9-81ED-4DB2-BD59-A6C34878D82A}">
                    <a16:rowId xmlns:a16="http://schemas.microsoft.com/office/drawing/2014/main" val="10006"/>
                  </a:ext>
                </a:extLst>
              </a:tr>
              <a:tr h="532707">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FFFFFF"/>
                          </a:solidFill>
                          <a:effectLst/>
                          <a:latin typeface="Times New Roman" pitchFamily="18" charset="0"/>
                          <a:cs typeface="Times New Roman" pitchFamily="18" charset="0"/>
                        </a:rPr>
                        <a:t>Huang, S. et al. (2021)</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Expert Systems with Applications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Masked Age and Gender Identification using Region-based Models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Region-based Models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Robust identification with localized feature extraction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Limited scalability to extreme occlusions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7"/>
                  </a:ext>
                </a:extLst>
              </a:tr>
              <a:tr h="532707">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Chen, H. et al. (2021)</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Journal of Real-Time Image Processing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Deep Learning Approaches for Masked Age and Gender Identification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Deep Learning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Robust identification using deep learning techniques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Limited evaluation on masked face identification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extLst>
                  <a:ext uri="{0D108BD9-81ED-4DB2-BD59-A6C34878D82A}">
                    <a16:rowId xmlns:a16="http://schemas.microsoft.com/office/drawing/2014/main" val="10008"/>
                  </a:ext>
                </a:extLst>
              </a:tr>
              <a:tr h="44041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Kim, J. et al. (2021)</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Journal of Visual Communication and Image Representation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Review of Masked Age and Gender Identification Techniques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N/A</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Review</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Comprehensive analysis of challenges and solutions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Lack of empirical validation</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08-7-2025			                			                           16</a:t>
            </a:r>
            <a:endParaRPr lang="en-IN" sz="1600" b="1" dirty="0">
              <a:latin typeface="Cambria" pitchFamily="18" charset="0"/>
              <a:ea typeface="Cambria" pitchFamily="18" charset="0"/>
            </a:endParaRPr>
          </a:p>
        </p:txBody>
      </p:sp>
      <p:sp>
        <p:nvSpPr>
          <p:cNvPr id="5" name="Rectangle: Rounded Corners 4"/>
          <p:cNvSpPr/>
          <p:nvPr/>
        </p:nvSpPr>
        <p:spPr>
          <a:xfrm>
            <a:off x="-101400" y="239253"/>
            <a:ext cx="4176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Literature Survey</a:t>
            </a:r>
            <a:endParaRPr lang="en-IN" sz="4000" dirty="0">
              <a:solidFill>
                <a:schemeClr val="bg1"/>
              </a:solidFill>
            </a:endParaRPr>
          </a:p>
        </p:txBody>
      </p:sp>
      <p:graphicFrame>
        <p:nvGraphicFramePr>
          <p:cNvPr id="8" name="Table 7"/>
          <p:cNvGraphicFramePr>
            <a:graphicFrameLocks noGrp="1"/>
          </p:cNvGraphicFramePr>
          <p:nvPr/>
        </p:nvGraphicFramePr>
        <p:xfrm>
          <a:off x="150813" y="1273175"/>
          <a:ext cx="11874500" cy="4997093"/>
        </p:xfrm>
        <a:graphic>
          <a:graphicData uri="http://schemas.openxmlformats.org/drawingml/2006/table">
            <a:tbl>
              <a:tblPr/>
              <a:tblGrid>
                <a:gridCol w="817375">
                  <a:extLst>
                    <a:ext uri="{9D8B030D-6E8A-4147-A177-3AD203B41FA5}">
                      <a16:colId xmlns:a16="http://schemas.microsoft.com/office/drawing/2014/main" val="20000"/>
                    </a:ext>
                  </a:extLst>
                </a:gridCol>
                <a:gridCol w="1398494">
                  <a:extLst>
                    <a:ext uri="{9D8B030D-6E8A-4147-A177-3AD203B41FA5}">
                      <a16:colId xmlns:a16="http://schemas.microsoft.com/office/drawing/2014/main" val="20001"/>
                    </a:ext>
                  </a:extLst>
                </a:gridCol>
                <a:gridCol w="2519083">
                  <a:extLst>
                    <a:ext uri="{9D8B030D-6E8A-4147-A177-3AD203B41FA5}">
                      <a16:colId xmlns:a16="http://schemas.microsoft.com/office/drawing/2014/main" val="20002"/>
                    </a:ext>
                  </a:extLst>
                </a:gridCol>
                <a:gridCol w="1649506">
                  <a:extLst>
                    <a:ext uri="{9D8B030D-6E8A-4147-A177-3AD203B41FA5}">
                      <a16:colId xmlns:a16="http://schemas.microsoft.com/office/drawing/2014/main" val="20003"/>
                    </a:ext>
                  </a:extLst>
                </a:gridCol>
                <a:gridCol w="1398494">
                  <a:extLst>
                    <a:ext uri="{9D8B030D-6E8A-4147-A177-3AD203B41FA5}">
                      <a16:colId xmlns:a16="http://schemas.microsoft.com/office/drawing/2014/main" val="20004"/>
                    </a:ext>
                  </a:extLst>
                </a:gridCol>
                <a:gridCol w="2223247">
                  <a:extLst>
                    <a:ext uri="{9D8B030D-6E8A-4147-A177-3AD203B41FA5}">
                      <a16:colId xmlns:a16="http://schemas.microsoft.com/office/drawing/2014/main" val="20005"/>
                    </a:ext>
                  </a:extLst>
                </a:gridCol>
                <a:gridCol w="1868301">
                  <a:extLst>
                    <a:ext uri="{9D8B030D-6E8A-4147-A177-3AD203B41FA5}">
                      <a16:colId xmlns:a16="http://schemas.microsoft.com/office/drawing/2014/main" val="20006"/>
                    </a:ext>
                  </a:extLst>
                </a:gridCol>
              </a:tblGrid>
              <a:tr h="200460">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dirty="0">
                          <a:ln>
                            <a:noFill/>
                          </a:ln>
                          <a:solidFill>
                            <a:srgbClr val="FFFFFF"/>
                          </a:solidFill>
                          <a:effectLst/>
                          <a:latin typeface="Times New Roman" pitchFamily="18" charset="0"/>
                          <a:cs typeface="Times New Roman" pitchFamily="18" charset="0"/>
                        </a:rPr>
                        <a:t>Reference</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Journal Name</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Title</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Approach</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Advantages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5000"/>
                        </a:lnSpc>
                        <a:spcBef>
                          <a:spcPct val="0"/>
                        </a:spcBef>
                        <a:spcAft>
                          <a:spcPts val="1000"/>
                        </a:spcAft>
                        <a:buClrTx/>
                        <a:buSzTx/>
                        <a:buFontTx/>
                        <a:buNone/>
                        <a:tabLst/>
                      </a:pPr>
                      <a:r>
                        <a:rPr kumimoji="0" lang="en-IN" sz="1200" b="1" i="0" u="none" strike="noStrike" cap="none" normalizeH="0" baseline="0">
                          <a:ln>
                            <a:noFill/>
                          </a:ln>
                          <a:solidFill>
                            <a:srgbClr val="FFFFFF"/>
                          </a:solidFill>
                          <a:effectLst/>
                          <a:latin typeface="Times New Roman" pitchFamily="18" charset="0"/>
                          <a:cs typeface="Times New Roman" pitchFamily="18" charset="0"/>
                        </a:rPr>
                        <a:t>Observations/Limitations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0AD47"/>
                    </a:solidFill>
                  </a:tcPr>
                </a:tc>
                <a:extLst>
                  <a:ext uri="{0D108BD9-81ED-4DB2-BD59-A6C34878D82A}">
                    <a16:rowId xmlns:a16="http://schemas.microsoft.com/office/drawing/2014/main" val="10000"/>
                  </a:ext>
                </a:extLst>
              </a:tr>
              <a:tr h="36172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Gao, M. et al. (2021)</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Neurocomputing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Fine-tuned Models for Age and Gender Identification under Mask Occlusion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IMDB-Wiki,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Deep Learning + Fine-tuning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High accuracy in identifying age and gender despite masks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Fine-tuning dependency on initial model quality</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1"/>
                  </a:ext>
                </a:extLst>
              </a:tr>
              <a:tr h="54259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1200" b="0" i="0" u="none" strike="noStrike" cap="none" normalizeH="0" baseline="0" dirty="0">
                          <a:ln>
                            <a:noFill/>
                          </a:ln>
                          <a:solidFill>
                            <a:srgbClr val="FFFFFF"/>
                          </a:solidFill>
                          <a:effectLst/>
                          <a:latin typeface="Times New Roman" pitchFamily="18" charset="0"/>
                          <a:cs typeface="Times New Roman" pitchFamily="18" charset="0"/>
                        </a:rPr>
                        <a:t>Li, J. et al. (2021)</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IEEE Transactions on Image Processing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Adversarial Training and Multi-task Learning for Masked Age and Gender Identification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Adversarial Training + Multi-task Learning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Enhanced generalization to diverse masks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Increased computational cost due to adversarial training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extLst>
                  <a:ext uri="{0D108BD9-81ED-4DB2-BD59-A6C34878D82A}">
                    <a16:rowId xmlns:a16="http://schemas.microsoft.com/office/drawing/2014/main" val="10002"/>
                  </a:ext>
                </a:extLst>
              </a:tr>
              <a:tr h="54259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Wang, Q. et al. (2022)</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Computer Vision and Pattern Recognition</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Improved Masked Age and Gender Identification with Graph Convolutional Networks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Graph Convolutional Networks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Enhanced feature learning with graph-based models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Limited scalability to large-scale datasets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3"/>
                  </a:ext>
                </a:extLst>
              </a:tr>
              <a:tr h="54259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Chen, S. et al. (2022)</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Journal of Machine Learning Research</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Age and Gender Identification under Mask Occlusion using Capsule Networks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Capsule Networks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Improved robustness to occlusion with capsule-based representation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Higher computational cost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extLst>
                  <a:ext uri="{0D108BD9-81ED-4DB2-BD59-A6C34878D82A}">
                    <a16:rowId xmlns:a16="http://schemas.microsoft.com/office/drawing/2014/main" val="10004"/>
                  </a:ext>
                </a:extLst>
              </a:tr>
              <a:tr h="54259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Liu, X. et al. (2022)</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IEEE Transactions on Multimedia</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Age and Gender Identification with Masks based on Cross-modal Transfer Learning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Cross-modal Transfer Learning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Leveraging information from multiple modalities for robust identification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Increased complexity due to cross-modal fusion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5"/>
                  </a:ext>
                </a:extLst>
              </a:tr>
              <a:tr h="4075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FFFFFF"/>
                          </a:solidFill>
                          <a:effectLst/>
                          <a:latin typeface="Times New Roman" pitchFamily="18" charset="0"/>
                          <a:cs typeface="Times New Roman" pitchFamily="18" charset="0"/>
                        </a:rPr>
                        <a:t>Zhang, X. et al. (2022)</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Neural Networks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Masked Age and Gender Identification with Adversarial Domain Adaptation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Adversarial Domain Adaptation</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Enhanced generalization to unseen masked conditions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Increased computational cost due to domain adaptation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extLst>
                  <a:ext uri="{0D108BD9-81ED-4DB2-BD59-A6C34878D82A}">
                    <a16:rowId xmlns:a16="http://schemas.microsoft.com/office/drawing/2014/main" val="10006"/>
                  </a:ext>
                </a:extLst>
              </a:tr>
              <a:tr h="54259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Wang, Y. et al. (2023)</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IEEE Transactions on Cybernetics</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Age and Gender Identification in the Presence of Masks with Self-supervised Learning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Self-supervised Learning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Utilization of self-supervised learning for robust feature representation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Limited scalability to diverse mask types</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7"/>
                  </a:ext>
                </a:extLst>
              </a:tr>
              <a:tr h="54259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1200" b="0" i="0" u="none" strike="noStrike" cap="none" normalizeH="0" baseline="0" dirty="0">
                          <a:ln>
                            <a:noFill/>
                          </a:ln>
                          <a:solidFill>
                            <a:srgbClr val="FFFFFF"/>
                          </a:solidFill>
                          <a:effectLst/>
                          <a:latin typeface="Times New Roman" pitchFamily="18" charset="0"/>
                          <a:cs typeface="Times New Roman" pitchFamily="18" charset="0"/>
                        </a:rPr>
                        <a:t>Li, H. et al. (2023)</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Computer Vision and Image Understanding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Masked Age and Gender Identification based on Knowledge Distillation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Knowledge Distillation</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Enhanced model compression and robustness through knowledge distillation</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Trade-off between accuracy and computational cost</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F1E9"/>
                    </a:solidFill>
                  </a:tcPr>
                </a:tc>
                <a:extLst>
                  <a:ext uri="{0D108BD9-81ED-4DB2-BD59-A6C34878D82A}">
                    <a16:rowId xmlns:a16="http://schemas.microsoft.com/office/drawing/2014/main" val="10008"/>
                  </a:ext>
                </a:extLst>
              </a:tr>
              <a:tr h="72345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a-DK" sz="1200" b="0" i="0" u="none" strike="noStrike" cap="none" normalizeH="0" baseline="0" dirty="0">
                          <a:ln>
                            <a:noFill/>
                          </a:ln>
                          <a:solidFill>
                            <a:srgbClr val="FFFFFF"/>
                          </a:solidFill>
                          <a:effectLst/>
                          <a:latin typeface="Times New Roman" pitchFamily="18" charset="0"/>
                          <a:cs typeface="Times New Roman" pitchFamily="18" charset="0"/>
                        </a:rPr>
                        <a:t>Zhou, W. et al. (2023)</a:t>
                      </a:r>
                      <a:endParaRPr kumimoji="0" lang="en-IN" sz="1200" b="0" i="0" u="none" strike="noStrike" cap="none" normalizeH="0" baseline="0" dirty="0">
                        <a:ln>
                          <a:noFill/>
                        </a:ln>
                        <a:solidFill>
                          <a:srgbClr val="FFFFFF"/>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IEEE Transactions on Pattern Analysis and Machine Intelligence</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Robust Masked Age and Gender Identification using Adversarial Learning and Few-shot Learning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UTKFace, Custom Masked Dataset</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dirty="0">
                          <a:ln>
                            <a:noFill/>
                          </a:ln>
                          <a:solidFill>
                            <a:srgbClr val="000000"/>
                          </a:solidFill>
                          <a:effectLst/>
                          <a:latin typeface="Times New Roman" pitchFamily="18" charset="0"/>
                          <a:cs typeface="Times New Roman" pitchFamily="18" charset="0"/>
                        </a:rPr>
                        <a:t>Adversarial Learning + Few-shot Learning</a:t>
                      </a: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Improved generalization to unseen masked conditions with few-shot learning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rgbClr val="000000"/>
                          </a:solidFill>
                          <a:effectLst/>
                          <a:latin typeface="Times New Roman" pitchFamily="18" charset="0"/>
                          <a:cs typeface="Times New Roman" pitchFamily="18" charset="0"/>
                        </a:rPr>
                        <a:t>Increased complexity due to adversarial learning</a:t>
                      </a:r>
                      <a:endParaRPr kumimoji="0" lang="en-IN" sz="1200" b="0" i="0" u="none" strike="noStrike" cap="none" normalizeH="0" baseline="0" dirty="0">
                        <a:ln>
                          <a:noFill/>
                        </a:ln>
                        <a:solidFill>
                          <a:srgbClr val="000000"/>
                        </a:solidFill>
                        <a:effectLst/>
                        <a:latin typeface="Times New Roman" pitchFamily="18" charset="0"/>
                        <a:cs typeface="Times New Roman" pitchFamily="18" charset="0"/>
                      </a:endParaRPr>
                    </a:p>
                  </a:txBody>
                  <a:tcPr marL="34987" marR="349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E3C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17</a:t>
            </a:r>
            <a:endParaRPr lang="en-IN" sz="1600" b="1" dirty="0">
              <a:latin typeface="Cambria" pitchFamily="18" charset="0"/>
              <a:ea typeface="Cambria" pitchFamily="18" charset="0"/>
            </a:endParaRPr>
          </a:p>
        </p:txBody>
      </p:sp>
      <p:sp>
        <p:nvSpPr>
          <p:cNvPr id="7" name="Rectangle: Rounded Corners 4"/>
          <p:cNvSpPr/>
          <p:nvPr/>
        </p:nvSpPr>
        <p:spPr>
          <a:xfrm>
            <a:off x="38099" y="248778"/>
            <a:ext cx="3132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Methodology</a:t>
            </a:r>
            <a:endParaRPr lang="en-IN" sz="4000" dirty="0">
              <a:solidFill>
                <a:schemeClr val="bg1"/>
              </a:solidFill>
            </a:endParaRPr>
          </a:p>
        </p:txBody>
      </p:sp>
      <p:sp>
        <p:nvSpPr>
          <p:cNvPr id="36871" name="TextBox 6"/>
          <p:cNvSpPr txBox="1">
            <a:spLocks noChangeArrowheads="1"/>
          </p:cNvSpPr>
          <p:nvPr/>
        </p:nvSpPr>
        <p:spPr bwMode="auto">
          <a:xfrm>
            <a:off x="152400" y="1181100"/>
            <a:ext cx="11925300" cy="5016500"/>
          </a:xfrm>
          <a:prstGeom prst="rect">
            <a:avLst/>
          </a:prstGeom>
          <a:noFill/>
          <a:ln w="9525">
            <a:noFill/>
            <a:miter lim="800000"/>
            <a:headEnd/>
            <a:tailEnd/>
          </a:ln>
        </p:spPr>
        <p:txBody>
          <a:bodyPr>
            <a:spAutoFit/>
          </a:bodyPr>
          <a:lstStyle/>
          <a:p>
            <a:pPr algn="just">
              <a:buFont typeface="Arial" pitchFamily="34" charset="0"/>
              <a:buChar char="•"/>
            </a:pPr>
            <a:r>
              <a:rPr lang="en-US" sz="2000" dirty="0">
                <a:latin typeface="Times New Roman" pitchFamily="18" charset="0"/>
                <a:cs typeface="Times New Roman" pitchFamily="18" charset="0"/>
              </a:rPr>
              <a:t> Faces of people without mask belonging to 16 different classes of original dataset samples created by ‘‘</a:t>
            </a:r>
            <a:r>
              <a:rPr lang="en-US" sz="2000" dirty="0" err="1">
                <a:latin typeface="Times New Roman" pitchFamily="18" charset="0"/>
                <a:cs typeface="Times New Roman" pitchFamily="18" charset="0"/>
              </a:rPr>
              <a:t>Sanjaya</a:t>
            </a:r>
            <a:r>
              <a:rPr lang="en-US" sz="2000" dirty="0">
                <a:latin typeface="Times New Roman" pitchFamily="18" charset="0"/>
                <a:cs typeface="Times New Roman" pitchFamily="18" charset="0"/>
              </a:rPr>
              <a:t>  </a:t>
            </a:r>
          </a:p>
          <a:p>
            <a:pPr algn="just"/>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Subedi</a:t>
            </a:r>
            <a:r>
              <a:rPr lang="en-US" sz="2000" dirty="0">
                <a:latin typeface="Times New Roman" pitchFamily="18" charset="0"/>
                <a:cs typeface="Times New Roman" pitchFamily="18" charset="0"/>
              </a:rPr>
              <a:t>’’ is downloaded from the Kaggle, </a:t>
            </a:r>
            <a:r>
              <a:rPr lang="en-US" sz="2000" dirty="0">
                <a:latin typeface="Times New Roman" pitchFamily="18" charset="0"/>
                <a:cs typeface="Times New Roman" pitchFamily="18" charset="0"/>
                <a:hlinkClick r:id="rId2"/>
              </a:rPr>
              <a:t>https://www.kaggle.com/datasets/jangedoo/utkface-new</a:t>
            </a:r>
            <a:r>
              <a:rPr lang="en-US" sz="2000" dirty="0">
                <a:latin typeface="Times New Roman" pitchFamily="18" charset="0"/>
                <a:cs typeface="Times New Roman" pitchFamily="18" charset="0"/>
              </a:rPr>
              <a:t>.</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Pre-processing is a function that loads all files from a folder as input and resizes the images for future use with </a:t>
            </a:r>
          </a:p>
          <a:p>
            <a:pPr algn="just"/>
            <a:r>
              <a:rPr lang="en-US" sz="2000" dirty="0">
                <a:latin typeface="Times New Roman" pitchFamily="18" charset="0"/>
                <a:cs typeface="Times New Roman" pitchFamily="18" charset="0"/>
              </a:rPr>
              <a:t>  the proposed model.</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To speed up the calculation, the images were converted to a NumPy library, utilizing for working with the values. </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 pattern was first analyzed by storing the image data in the label binarizer (LB) to identify categories 0 and 1 </a:t>
            </a:r>
          </a:p>
          <a:p>
            <a:pPr algn="just"/>
            <a:r>
              <a:rPr lang="en-US" sz="2000" dirty="0">
                <a:latin typeface="Times New Roman" pitchFamily="18" charset="0"/>
                <a:cs typeface="Times New Roman" pitchFamily="18" charset="0"/>
              </a:rPr>
              <a:t>  integer values.</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 collected images were split into two categories. Training dataset consisting of 9,734 images, representing </a:t>
            </a:r>
          </a:p>
          <a:p>
            <a:pPr algn="just"/>
            <a:r>
              <a:rPr lang="en-US" sz="2000" dirty="0">
                <a:latin typeface="Times New Roman" pitchFamily="18" charset="0"/>
                <a:cs typeface="Times New Roman" pitchFamily="18" charset="0"/>
              </a:rPr>
              <a:t>  80% and the testing data, consists remaining 2,426 images, representing 20% of dataset.</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Our proposed CMNV2 technique was created utilizing a deep neural network architecture, TensorFlow, Keras </a:t>
            </a:r>
          </a:p>
          <a:p>
            <a:pPr algn="just"/>
            <a:r>
              <a:rPr lang="en-US" sz="2000" dirty="0">
                <a:latin typeface="Times New Roman" pitchFamily="18" charset="0"/>
                <a:cs typeface="Times New Roman" pitchFamily="18" charset="0"/>
              </a:rPr>
              <a:t>   and OpenCV libraries to achieve MFC, MFAI and MFGI on photo and real-time video images.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18</a:t>
            </a:r>
            <a:endParaRPr lang="en-IN" sz="1600" b="1" dirty="0">
              <a:latin typeface="Cambria" pitchFamily="18" charset="0"/>
              <a:ea typeface="Cambria" pitchFamily="18" charset="0"/>
            </a:endParaRPr>
          </a:p>
        </p:txBody>
      </p:sp>
      <p:sp>
        <p:nvSpPr>
          <p:cNvPr id="8" name="Rectangle: Rounded Corners 4"/>
          <p:cNvSpPr/>
          <p:nvPr/>
        </p:nvSpPr>
        <p:spPr>
          <a:xfrm>
            <a:off x="38099" y="248778"/>
            <a:ext cx="3132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Methodology</a:t>
            </a:r>
            <a:endParaRPr lang="en-IN" sz="4000" dirty="0">
              <a:solidFill>
                <a:schemeClr val="bg1"/>
              </a:solidFill>
            </a:endParaRPr>
          </a:p>
        </p:txBody>
      </p:sp>
      <p:sp>
        <p:nvSpPr>
          <p:cNvPr id="37895" name="Rectangle 5"/>
          <p:cNvSpPr>
            <a:spLocks noChangeArrowheads="1"/>
          </p:cNvSpPr>
          <p:nvPr/>
        </p:nvSpPr>
        <p:spPr bwMode="auto">
          <a:xfrm>
            <a:off x="123825" y="1209675"/>
            <a:ext cx="11925300" cy="4710113"/>
          </a:xfrm>
          <a:prstGeom prst="rect">
            <a:avLst/>
          </a:prstGeom>
          <a:noFill/>
          <a:ln w="9525">
            <a:noFill/>
            <a:miter lim="800000"/>
            <a:headEnd/>
            <a:tailEnd/>
          </a:ln>
        </p:spPr>
        <p:txBody>
          <a:bodyPr>
            <a:spAutoFit/>
          </a:bodyPr>
          <a:lstStyle/>
          <a:p>
            <a:pPr algn="just">
              <a:buFont typeface="Arial" pitchFamily="34" charset="0"/>
              <a:buChar char="•"/>
            </a:pPr>
            <a:r>
              <a:rPr lang="en-US" sz="2000" dirty="0">
                <a:latin typeface="Times New Roman" pitchFamily="18" charset="0"/>
                <a:cs typeface="Times New Roman" pitchFamily="18" charset="0"/>
              </a:rPr>
              <a:t> All text (TXT) files, deploy.prototxt, opencv_face_detector.pbtxt, age_deploy.prototxt, gender_deploy.prototxt, </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All the weights mask_detector.model, res10_300 × 300_ssd_iter_140000.caffemodel, age_net.caffemodel and  </a:t>
            </a:r>
          </a:p>
          <a:p>
            <a:pPr algn="just"/>
            <a:r>
              <a:rPr lang="en-US" sz="2000" dirty="0">
                <a:latin typeface="Times New Roman" pitchFamily="18" charset="0"/>
                <a:cs typeface="Times New Roman" pitchFamily="18" charset="0"/>
              </a:rPr>
              <a:t>  gender_net.caffemodel are used.</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Using our dataset of 12,160 images as the source domain, our CMNV2 model is then fine-tuned for required task </a:t>
            </a:r>
          </a:p>
          <a:p>
            <a:pPr algn="just"/>
            <a:r>
              <a:rPr lang="en-US" sz="2000" dirty="0">
                <a:latin typeface="Times New Roman" pitchFamily="18" charset="0"/>
                <a:cs typeface="Times New Roman" pitchFamily="18" charset="0"/>
              </a:rPr>
              <a:t>  for addressing the specific features of the new task as MFAI and MFGI. </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Storage of the frame’s dimensions and its creation of a blob function, the deep neural network was to train to </a:t>
            </a:r>
          </a:p>
          <a:p>
            <a:pPr algn="just"/>
            <a:r>
              <a:rPr lang="en-US" sz="2000" dirty="0">
                <a:latin typeface="Times New Roman" pitchFamily="18" charset="0"/>
                <a:cs typeface="Times New Roman" pitchFamily="18" charset="0"/>
              </a:rPr>
              <a:t>   identify and predict using the suggested method for masked face age and gender identification. </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 blob function’s input and setup include a list of faces, their locations and a group of predictions.</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Images were scaled with RGB dimensions of photo images and real-time video images in different channels   </a:t>
            </a:r>
          </a:p>
          <a:p>
            <a:pPr algn="just"/>
            <a:r>
              <a:rPr lang="en-US" sz="2000" dirty="0">
                <a:latin typeface="Times New Roman" pitchFamily="18" charset="0"/>
                <a:cs typeface="Times New Roman" pitchFamily="18" charset="0"/>
              </a:rPr>
              <a:t>  using the blob function by utilizing a combination of prototxt files and bounding boxes of X and 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19</a:t>
            </a:r>
            <a:endParaRPr lang="en-IN" sz="1600" b="1" dirty="0">
              <a:latin typeface="Cambria" pitchFamily="18" charset="0"/>
              <a:ea typeface="Cambria" pitchFamily="18" charset="0"/>
            </a:endParaRPr>
          </a:p>
        </p:txBody>
      </p:sp>
      <p:sp>
        <p:nvSpPr>
          <p:cNvPr id="6" name="Rectangle: Rounded Corners 4"/>
          <p:cNvSpPr/>
          <p:nvPr/>
        </p:nvSpPr>
        <p:spPr>
          <a:xfrm>
            <a:off x="-3" y="191628"/>
            <a:ext cx="2736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3</a:t>
            </a:r>
            <a:r>
              <a:rPr lang="en-US" altLang="en-US" sz="4000" b="1" baseline="30000"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rd </a:t>
            </a: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Chapter</a:t>
            </a:r>
            <a:endParaRPr lang="en-IN" sz="4000" dirty="0">
              <a:solidFill>
                <a:schemeClr val="bg1"/>
              </a:solidFill>
            </a:endParaRPr>
          </a:p>
        </p:txBody>
      </p:sp>
      <p:sp>
        <p:nvSpPr>
          <p:cNvPr id="8" name="Rectangle: Rounded Corners 4"/>
          <p:cNvSpPr/>
          <p:nvPr/>
        </p:nvSpPr>
        <p:spPr>
          <a:xfrm>
            <a:off x="1428751" y="1096502"/>
            <a:ext cx="10692000" cy="1827673"/>
          </a:xfrm>
          <a:prstGeom prst="roundRect">
            <a:avLst/>
          </a:prstGeom>
          <a:solidFill>
            <a:srgbClr val="002060"/>
          </a:solidFill>
          <a:ln>
            <a:solidFill>
              <a:srgbClr val="002060"/>
            </a:solidFill>
          </a:ln>
          <a:scene3d>
            <a:camera prst="isometricOffAxis1Right">
              <a:rot lat="1080000" lon="21594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3200" b="1" dirty="0">
                <a:latin typeface="Times New Roman" pitchFamily="18" charset="0"/>
                <a:cs typeface="Times New Roman" pitchFamily="18" charset="0"/>
              </a:rPr>
              <a:t>CMNV2 model based masked face recognition on photo and real-time video images by transfer learning and deep learning techniques</a:t>
            </a:r>
            <a:endParaRPr lang="en-IN" b="1" dirty="0">
              <a:solidFill>
                <a:schemeClr val="bg1"/>
              </a:solidFill>
              <a:latin typeface="Times New Roman" pitchFamily="18" charset="0"/>
              <a:cs typeface="Times New Roman" pitchFamily="18" charset="0"/>
            </a:endParaRPr>
          </a:p>
        </p:txBody>
      </p:sp>
      <p:sp>
        <p:nvSpPr>
          <p:cNvPr id="62472" name="Rectangle 6"/>
          <p:cNvSpPr>
            <a:spLocks noChangeArrowheads="1"/>
          </p:cNvSpPr>
          <p:nvPr/>
        </p:nvSpPr>
        <p:spPr bwMode="auto">
          <a:xfrm>
            <a:off x="161925" y="3109913"/>
            <a:ext cx="11877675" cy="3170237"/>
          </a:xfrm>
          <a:prstGeom prst="rect">
            <a:avLst/>
          </a:prstGeom>
          <a:noFill/>
          <a:ln w="9525">
            <a:noFill/>
            <a:miter lim="800000"/>
            <a:headEnd/>
            <a:tailEnd/>
          </a:ln>
        </p:spPr>
        <p:txBody>
          <a:bodyPr>
            <a:spAutoFit/>
          </a:bodyPr>
          <a:lstStyle/>
          <a:p>
            <a:pPr algn="just">
              <a:buFont typeface="Arial" pitchFamily="34" charset="0"/>
              <a:buChar char="•"/>
            </a:pPr>
            <a:r>
              <a:rPr lang="en-US" sz="2000" dirty="0">
                <a:latin typeface="Times New Roman" pitchFamily="18" charset="0"/>
                <a:cs typeface="Times New Roman" pitchFamily="18" charset="0"/>
              </a:rPr>
              <a:t> The challenge of performing masked facial recognition without asking people to remove their face masks while </a:t>
            </a:r>
          </a:p>
          <a:p>
            <a:pPr algn="just"/>
            <a:r>
              <a:rPr lang="en-US" sz="2000" dirty="0">
                <a:latin typeface="Times New Roman" pitchFamily="18" charset="0"/>
                <a:cs typeface="Times New Roman" pitchFamily="18" charset="0"/>
              </a:rPr>
              <a:t>   maintaining accuracy is a major problem.</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This study research objective is concentrated on the upper half of the face, particularly the eyes, forehead and </a:t>
            </a:r>
          </a:p>
          <a:p>
            <a:pPr algn="just"/>
            <a:r>
              <a:rPr lang="en-US" sz="2000" dirty="0">
                <a:latin typeface="Times New Roman" pitchFamily="18" charset="0"/>
                <a:cs typeface="Times New Roman" pitchFamily="18" charset="0"/>
              </a:rPr>
              <a:t>  other visible side features like ears.</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We investigated and evaluating 9 different masked facial recognition methods: MobileNet, MobileNetV2,    </a:t>
            </a:r>
          </a:p>
          <a:p>
            <a:pPr algn="just"/>
            <a:r>
              <a:rPr lang="en-US" sz="2000" dirty="0">
                <a:latin typeface="Times New Roman" pitchFamily="18" charset="0"/>
                <a:cs typeface="Times New Roman" pitchFamily="18" charset="0"/>
              </a:rPr>
              <a:t>   ResNet50, DenseNet121, EfficientNetB0, InceptionV3, ResNet101V2, Xception and our proposed model.</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These 9 models were used to classify masked faces of people among ten (10) classes.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20</a:t>
            </a:r>
            <a:endParaRPr lang="en-IN" sz="1600" b="1" dirty="0">
              <a:latin typeface="Cambria" pitchFamily="18" charset="0"/>
              <a:ea typeface="Cambria" pitchFamily="18" charset="0"/>
            </a:endParaRPr>
          </a:p>
        </p:txBody>
      </p:sp>
      <p:sp>
        <p:nvSpPr>
          <p:cNvPr id="5" name="Rectangle: Rounded Corners 4"/>
          <p:cNvSpPr/>
          <p:nvPr/>
        </p:nvSpPr>
        <p:spPr>
          <a:xfrm>
            <a:off x="9522" y="191628"/>
            <a:ext cx="2808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3</a:t>
            </a:r>
            <a:r>
              <a:rPr lang="en-US" altLang="en-US" sz="4000" b="1" baseline="30000"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rd</a:t>
            </a: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 Chapter</a:t>
            </a:r>
            <a:endParaRPr lang="en-IN" sz="4000" dirty="0">
              <a:solidFill>
                <a:schemeClr val="bg1"/>
              </a:solidFill>
            </a:endParaRPr>
          </a:p>
        </p:txBody>
      </p:sp>
      <p:sp>
        <p:nvSpPr>
          <p:cNvPr id="63495" name="Rectangle 5"/>
          <p:cNvSpPr>
            <a:spLocks noChangeArrowheads="1"/>
          </p:cNvSpPr>
          <p:nvPr/>
        </p:nvSpPr>
        <p:spPr bwMode="auto">
          <a:xfrm>
            <a:off x="161925" y="1314450"/>
            <a:ext cx="11687175" cy="5016758"/>
          </a:xfrm>
          <a:prstGeom prst="rect">
            <a:avLst/>
          </a:prstGeom>
          <a:noFill/>
          <a:ln w="9525">
            <a:noFill/>
            <a:miter lim="800000"/>
            <a:headEnd/>
            <a:tailEnd/>
          </a:ln>
        </p:spPr>
        <p:txBody>
          <a:bodyPr>
            <a:spAutoFit/>
          </a:bodyPr>
          <a:lstStyle/>
          <a:p>
            <a:pPr algn="just">
              <a:buFont typeface="Arial" pitchFamily="34" charset="0"/>
              <a:buChar char="•"/>
            </a:pPr>
            <a:r>
              <a:rPr lang="en-US" sz="2000" dirty="0">
                <a:latin typeface="Times New Roman" pitchFamily="18" charset="0"/>
                <a:cs typeface="Times New Roman" pitchFamily="18" charset="0"/>
              </a:rPr>
              <a:t> This approach developed a Python model that was to train and evaluating on 3,340 masked face images.</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Using deep learning (DL) and a transfer learning approach, we developed a unique novel approach to image </a:t>
            </a:r>
          </a:p>
          <a:p>
            <a:pPr algn="just"/>
            <a:r>
              <a:rPr lang="en-US" sz="2000" dirty="0">
                <a:latin typeface="Times New Roman" pitchFamily="18" charset="0"/>
                <a:cs typeface="Times New Roman" pitchFamily="18" charset="0"/>
              </a:rPr>
              <a:t>  feature extraction.</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 artificially masked faces of images dataset created by us utilizing in this work is publicly made available on the Kaggle website </a:t>
            </a:r>
            <a:r>
              <a:rPr lang="en-US" sz="2000" dirty="0">
                <a:latin typeface="Times New Roman" pitchFamily="18" charset="0"/>
                <a:cs typeface="Times New Roman" pitchFamily="18" charset="0"/>
                <a:hlinkClick r:id="rId2"/>
              </a:rPr>
              <a:t>https://www.kaggle.com/datasets/banilkumar20phd7071/masked-face-recognition-dataset-artificial-masking</a:t>
            </a:r>
            <a:r>
              <a:rPr lang="en-US" sz="2000" dirty="0">
                <a:latin typeface="Times New Roman" pitchFamily="18" charset="0"/>
                <a:cs typeface="Times New Roman" pitchFamily="18" charset="0"/>
              </a:rPr>
              <a:t>.</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 collected images were split into two categories. Training dataset consisting of  2,675 images, representing  </a:t>
            </a:r>
          </a:p>
          <a:p>
            <a:pPr algn="just"/>
            <a:r>
              <a:rPr lang="en-US" sz="2000" dirty="0">
                <a:latin typeface="Times New Roman" pitchFamily="18" charset="0"/>
                <a:cs typeface="Times New Roman" pitchFamily="18" charset="0"/>
              </a:rPr>
              <a:t>  80% and the testing data, consists remaining 665 images, representing 20% of dataset.</a:t>
            </a:r>
          </a:p>
          <a:p>
            <a:pPr algn="just"/>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The proposed CMNV2 model is effective with combined transfer learning, deep learning</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(DL) and deep neural network (DNN) architecture to extract image features for masked face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classification (MFC) and masked face recognition (MFR) in comparison to the 8 traditional</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models.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798B916-9827-6A2E-A53C-F1699100A962}"/>
              </a:ext>
            </a:extLst>
          </p:cNvPr>
          <p:cNvGrpSpPr/>
          <p:nvPr/>
        </p:nvGrpSpPr>
        <p:grpSpPr>
          <a:xfrm>
            <a:off x="1452880" y="355600"/>
            <a:ext cx="8920480" cy="5506720"/>
            <a:chOff x="0" y="0"/>
            <a:chExt cx="4947793" cy="4171950"/>
          </a:xfrm>
        </p:grpSpPr>
        <p:sp>
          <p:nvSpPr>
            <p:cNvPr id="5" name="Rectangle 4">
              <a:extLst>
                <a:ext uri="{FF2B5EF4-FFF2-40B4-BE49-F238E27FC236}">
                  <a16:creationId xmlns:a16="http://schemas.microsoft.com/office/drawing/2014/main" id="{F715F396-B63E-F446-8BA5-5D2A711BDEF9}"/>
                </a:ext>
              </a:extLst>
            </p:cNvPr>
            <p:cNvSpPr/>
            <p:nvPr/>
          </p:nvSpPr>
          <p:spPr>
            <a:xfrm>
              <a:off x="4831588" y="1431710"/>
              <a:ext cx="50673" cy="181116"/>
            </a:xfrm>
            <a:prstGeom prst="rect">
              <a:avLst/>
            </a:prstGeom>
            <a:ln>
              <a:noFill/>
            </a:ln>
          </p:spPr>
          <p:txBody>
            <a:bodyPr vert="horz" lIns="0" tIns="0" rIns="0" bIns="0" rtlCol="0">
              <a:noAutofit/>
            </a:bodyPr>
            <a:lstStyle/>
            <a:p>
              <a:pPr marL="49530" marR="113030" indent="-6350" algn="l">
                <a:lnSpc>
                  <a:spcPct val="107000"/>
                </a:lnSpc>
                <a:spcAft>
                  <a:spcPts val="800"/>
                </a:spcAft>
              </a:pPr>
              <a:r>
                <a:rPr lang="en-IN" sz="1200" b="1"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6" name="Rectangle 5">
              <a:extLst>
                <a:ext uri="{FF2B5EF4-FFF2-40B4-BE49-F238E27FC236}">
                  <a16:creationId xmlns:a16="http://schemas.microsoft.com/office/drawing/2014/main" id="{C4B4EF67-0FAF-8B4D-7406-0A8A3251421A}"/>
                </a:ext>
              </a:extLst>
            </p:cNvPr>
            <p:cNvSpPr/>
            <p:nvPr/>
          </p:nvSpPr>
          <p:spPr>
            <a:xfrm>
              <a:off x="4897120" y="1695743"/>
              <a:ext cx="50673" cy="181116"/>
            </a:xfrm>
            <a:prstGeom prst="rect">
              <a:avLst/>
            </a:prstGeom>
            <a:ln>
              <a:noFill/>
            </a:ln>
          </p:spPr>
          <p:txBody>
            <a:bodyPr vert="horz" lIns="0" tIns="0" rIns="0" bIns="0" rtlCol="0">
              <a:noAutofit/>
            </a:bodyPr>
            <a:lstStyle/>
            <a:p>
              <a:pPr marL="49530" marR="113030" indent="-6350" algn="l">
                <a:lnSpc>
                  <a:spcPct val="107000"/>
                </a:lnSpc>
                <a:spcAft>
                  <a:spcPts val="800"/>
                </a:spcAft>
              </a:pPr>
              <a:r>
                <a:rPr lang="en-IN" sz="1200" b="1"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F57F7D22-68A9-CD37-81EF-3AEC1C258830}"/>
                </a:ext>
              </a:extLst>
            </p:cNvPr>
            <p:cNvPicPr/>
            <p:nvPr/>
          </p:nvPicPr>
          <p:blipFill>
            <a:blip r:embed="rId2"/>
            <a:stretch>
              <a:fillRect/>
            </a:stretch>
          </p:blipFill>
          <p:spPr>
            <a:xfrm>
              <a:off x="0" y="0"/>
              <a:ext cx="4943475" cy="4171950"/>
            </a:xfrm>
            <a:prstGeom prst="rect">
              <a:avLst/>
            </a:prstGeom>
          </p:spPr>
        </p:pic>
      </p:grpSp>
      <p:sp>
        <p:nvSpPr>
          <p:cNvPr id="8" name="TextBox 7">
            <a:extLst>
              <a:ext uri="{FF2B5EF4-FFF2-40B4-BE49-F238E27FC236}">
                <a16:creationId xmlns:a16="http://schemas.microsoft.com/office/drawing/2014/main" id="{2AF8A419-FC71-EC4B-B71E-FE2B44485B3F}"/>
              </a:ext>
            </a:extLst>
          </p:cNvPr>
          <p:cNvSpPr txBox="1"/>
          <p:nvPr/>
        </p:nvSpPr>
        <p:spPr>
          <a:xfrm>
            <a:off x="995680" y="5995630"/>
            <a:ext cx="10861040" cy="646331"/>
          </a:xfrm>
          <a:prstGeom prst="rect">
            <a:avLst/>
          </a:prstGeom>
          <a:noFill/>
        </p:spPr>
        <p:txBody>
          <a:bodyPr wrap="square" rtlCol="0">
            <a:spAutoFit/>
          </a:bodyPr>
          <a:lstStyle/>
          <a:p>
            <a:r>
              <a:rPr lang="en-IN" b="1" dirty="0"/>
              <a:t>Block Diagram of the Proposed CMNV2 Model </a:t>
            </a:r>
            <a:r>
              <a:rPr lang="en-IN" dirty="0"/>
              <a:t> </a:t>
            </a:r>
            <a:r>
              <a:rPr lang="en-IN" b="1" dirty="0"/>
              <a:t>Dataset Preparation and Artificial Masking</a:t>
            </a:r>
            <a:r>
              <a:rPr lang="en-IN" dirty="0"/>
              <a:t> </a:t>
            </a:r>
            <a:endParaRPr lang="en-IN" b="1" dirty="0"/>
          </a:p>
          <a:p>
            <a:endParaRPr lang="en-IN" dirty="0"/>
          </a:p>
        </p:txBody>
      </p:sp>
    </p:spTree>
    <p:extLst>
      <p:ext uri="{BB962C8B-B14F-4D97-AF65-F5344CB8AC3E}">
        <p14:creationId xmlns:p14="http://schemas.microsoft.com/office/powerpoint/2010/main" val="452542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21</a:t>
            </a:r>
            <a:endParaRPr lang="en-IN" sz="1600" b="1" dirty="0">
              <a:latin typeface="Cambria" pitchFamily="18" charset="0"/>
              <a:ea typeface="Cambria" pitchFamily="18" charset="0"/>
            </a:endParaRPr>
          </a:p>
        </p:txBody>
      </p:sp>
      <p:sp>
        <p:nvSpPr>
          <p:cNvPr id="7" name="Rectangle: Rounded Corners 4"/>
          <p:cNvSpPr/>
          <p:nvPr/>
        </p:nvSpPr>
        <p:spPr>
          <a:xfrm>
            <a:off x="-66675" y="239253"/>
            <a:ext cx="4176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Literature Survey</a:t>
            </a:r>
            <a:endParaRPr lang="en-IN" sz="4000" dirty="0">
              <a:solidFill>
                <a:schemeClr val="bg1"/>
              </a:solidFill>
            </a:endParaRPr>
          </a:p>
        </p:txBody>
      </p:sp>
      <p:graphicFrame>
        <p:nvGraphicFramePr>
          <p:cNvPr id="6" name="Table 5"/>
          <p:cNvGraphicFramePr>
            <a:graphicFrameLocks noGrp="1"/>
          </p:cNvGraphicFramePr>
          <p:nvPr/>
        </p:nvGraphicFramePr>
        <p:xfrm>
          <a:off x="150813" y="1211263"/>
          <a:ext cx="11875285" cy="5065756"/>
        </p:xfrm>
        <a:graphic>
          <a:graphicData uri="http://schemas.openxmlformats.org/drawingml/2006/table">
            <a:tbl>
              <a:tblPr firstRow="1" firstCol="1" bandRow="1">
                <a:tableStyleId>{7DF18680-E054-41AD-8BC1-D1AEF772440D}</a:tableStyleId>
              </a:tblPr>
              <a:tblGrid>
                <a:gridCol w="835305">
                  <a:extLst>
                    <a:ext uri="{9D8B030D-6E8A-4147-A177-3AD203B41FA5}">
                      <a16:colId xmlns:a16="http://schemas.microsoft.com/office/drawing/2014/main" val="20000"/>
                    </a:ext>
                  </a:extLst>
                </a:gridCol>
                <a:gridCol w="1751255">
                  <a:extLst>
                    <a:ext uri="{9D8B030D-6E8A-4147-A177-3AD203B41FA5}">
                      <a16:colId xmlns:a16="http://schemas.microsoft.com/office/drawing/2014/main" val="20001"/>
                    </a:ext>
                  </a:extLst>
                </a:gridCol>
                <a:gridCol w="2067586">
                  <a:extLst>
                    <a:ext uri="{9D8B030D-6E8A-4147-A177-3AD203B41FA5}">
                      <a16:colId xmlns:a16="http://schemas.microsoft.com/office/drawing/2014/main" val="20002"/>
                    </a:ext>
                  </a:extLst>
                </a:gridCol>
                <a:gridCol w="1506194">
                  <a:extLst>
                    <a:ext uri="{9D8B030D-6E8A-4147-A177-3AD203B41FA5}">
                      <a16:colId xmlns:a16="http://schemas.microsoft.com/office/drawing/2014/main" val="20003"/>
                    </a:ext>
                  </a:extLst>
                </a:gridCol>
                <a:gridCol w="1873623">
                  <a:extLst>
                    <a:ext uri="{9D8B030D-6E8A-4147-A177-3AD203B41FA5}">
                      <a16:colId xmlns:a16="http://schemas.microsoft.com/office/drawing/2014/main" val="20004"/>
                    </a:ext>
                  </a:extLst>
                </a:gridCol>
                <a:gridCol w="2024096">
                  <a:extLst>
                    <a:ext uri="{9D8B030D-6E8A-4147-A177-3AD203B41FA5}">
                      <a16:colId xmlns:a16="http://schemas.microsoft.com/office/drawing/2014/main" val="20005"/>
                    </a:ext>
                  </a:extLst>
                </a:gridCol>
                <a:gridCol w="1817226">
                  <a:extLst>
                    <a:ext uri="{9D8B030D-6E8A-4147-A177-3AD203B41FA5}">
                      <a16:colId xmlns:a16="http://schemas.microsoft.com/office/drawing/2014/main" val="20006"/>
                    </a:ext>
                  </a:extLst>
                </a:gridCol>
              </a:tblGrid>
              <a:tr h="212839">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Reference</a:t>
                      </a: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Journal</a:t>
                      </a:r>
                      <a:r>
                        <a:rPr lang="en-IN" sz="1200" b="1" baseline="0" dirty="0">
                          <a:effectLst/>
                          <a:latin typeface="Times New Roman" pitchFamily="18" charset="0"/>
                          <a:ea typeface="Times New Roman" panose="02020603050405020304" pitchFamily="18" charset="0"/>
                          <a:cs typeface="Times New Roman" pitchFamily="18" charset="0"/>
                        </a:rPr>
                        <a:t> Name</a:t>
                      </a:r>
                      <a:endParaRPr lang="en-IN" sz="1200" b="1"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Title</a:t>
                      </a:r>
                    </a:p>
                  </a:txBody>
                  <a:tcPr marL="34987" marR="34987" marT="0" marB="0" anchor="ctr"/>
                </a:tc>
                <a:tc>
                  <a:txBody>
                    <a:bodyPr/>
                    <a:lstStyle/>
                    <a:p>
                      <a:pPr marL="0" marR="0" indent="0" algn="ctr" defTabSz="914400" rtl="0" eaLnBrk="1" fontAlgn="auto" latinLnBrk="0" hangingPunct="1">
                        <a:lnSpc>
                          <a:spcPct val="105000"/>
                        </a:lnSpc>
                        <a:spcBef>
                          <a:spcPts val="0"/>
                        </a:spcBef>
                        <a:spcAft>
                          <a:spcPts val="1000"/>
                        </a:spcAft>
                        <a:buClrTx/>
                        <a:buSzTx/>
                        <a:buFontTx/>
                        <a:buNone/>
                        <a:tabLst/>
                        <a:defRPr/>
                      </a:pPr>
                      <a:r>
                        <a:rPr lang="en-IN" sz="1200" b="1" dirty="0">
                          <a:effectLst/>
                          <a:latin typeface="Times New Roman" pitchFamily="18" charset="0"/>
                          <a:ea typeface="Times New Roman" panose="02020603050405020304" pitchFamily="18" charset="0"/>
                          <a:cs typeface="Times New Roman" pitchFamily="18" charset="0"/>
                        </a:rPr>
                        <a:t>Dataset</a:t>
                      </a: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Approach</a:t>
                      </a:r>
                    </a:p>
                  </a:txBody>
                  <a:tcPr marL="34987" marR="34987" marT="0" marB="0" anchor="ctr"/>
                </a:tc>
                <a:tc>
                  <a:txBody>
                    <a:bodyPr/>
                    <a:lstStyle/>
                    <a:p>
                      <a:pPr marL="0" marR="0" indent="0" algn="ctr" defTabSz="914400" rtl="0" eaLnBrk="1" fontAlgn="auto" latinLnBrk="0" hangingPunct="1">
                        <a:lnSpc>
                          <a:spcPct val="105000"/>
                        </a:lnSpc>
                        <a:spcBef>
                          <a:spcPts val="0"/>
                        </a:spcBef>
                        <a:spcAft>
                          <a:spcPts val="1000"/>
                        </a:spcAft>
                        <a:buClrTx/>
                        <a:buSzTx/>
                        <a:buFontTx/>
                        <a:buNone/>
                        <a:tabLst/>
                        <a:defRPr/>
                      </a:pPr>
                      <a:r>
                        <a:rPr lang="en-IN" sz="1200" b="1" dirty="0">
                          <a:effectLst/>
                          <a:latin typeface="Times New Roman" pitchFamily="18" charset="0"/>
                          <a:ea typeface="Times New Roman" panose="02020603050405020304" pitchFamily="18" charset="0"/>
                          <a:cs typeface="Times New Roman" pitchFamily="18" charset="0"/>
                        </a:rPr>
                        <a:t>Advantages</a:t>
                      </a: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Observations/Limitations</a:t>
                      </a:r>
                    </a:p>
                  </a:txBody>
                  <a:tcPr marL="34987" marR="34987" marT="0" marB="0" anchor="ctr"/>
                </a:tc>
                <a:extLst>
                  <a:ext uri="{0D108BD9-81ED-4DB2-BD59-A6C34878D82A}">
                    <a16:rowId xmlns:a16="http://schemas.microsoft.com/office/drawing/2014/main" val="10000"/>
                  </a:ext>
                </a:extLst>
              </a:tr>
              <a:tr h="52906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Yang, J. et al. (2020)</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IEEE Transactions on Biometrics, Behavior, and Identity Science</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Masked Face Recognition using Deep Learning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Deep Learning</a:t>
                      </a:r>
                    </a:p>
                  </a:txBody>
                  <a:tcPr marL="34987" marR="34987" marT="0" marB="0" anchor="ctr"/>
                </a:tc>
                <a:tc>
                  <a:txBody>
                    <a:bodyPr/>
                    <a:lstStyle/>
                    <a:p>
                      <a:pPr marL="0" marR="0" indent="0" algn="ctr" defTabSz="914400" rtl="0" eaLnBrk="1" fontAlgn="auto" latinLnBrk="0" hangingPunct="1">
                        <a:lnSpc>
                          <a:spcPct val="100000"/>
                        </a:lnSpc>
                        <a:spcBef>
                          <a:spcPts val="0"/>
                        </a:spcBef>
                        <a:spcAft>
                          <a:spcPts val="1000"/>
                        </a:spcAft>
                        <a:buClrTx/>
                        <a:buSzTx/>
                        <a:buFontTx/>
                        <a:buNone/>
                        <a:tabLst/>
                        <a:defRPr/>
                      </a:pPr>
                      <a:r>
                        <a:rPr lang="en-IN" sz="1200" b="0" dirty="0">
                          <a:effectLst/>
                          <a:latin typeface="Times New Roman" pitchFamily="18" charset="0"/>
                          <a:ea typeface="Times New Roman" panose="02020603050405020304" pitchFamily="18" charset="0"/>
                          <a:cs typeface="Times New Roman" pitchFamily="18" charset="0"/>
                        </a:rPr>
                        <a:t>Robust recognition despite masks</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Performance degradation with extreme occlusions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1"/>
                  </a:ext>
                </a:extLst>
              </a:tr>
              <a:tr h="529061">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Huang, Z. et al. (2020)</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IEEE Transactions on Information Forensics and Security</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Masked Face Recognition with Generative Adversarial Networks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Generative Adversarial Networks</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Robust recognition in the presence of masks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Sensitivity to variations in mask types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2"/>
                  </a:ext>
                </a:extLst>
              </a:tr>
              <a:tr h="529061">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Zhang, Q. et al. (2020)</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Pattern Recognition</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Masked Face Recognition with Attention Mechanism</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Attention Mechanism</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Enhanced feature extraction in masked regions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Higher computational complexity</a:t>
                      </a:r>
                    </a:p>
                  </a:txBody>
                  <a:tcPr marL="34987" marR="34987" marT="0" marB="0" anchor="ctr"/>
                </a:tc>
                <a:extLst>
                  <a:ext uri="{0D108BD9-81ED-4DB2-BD59-A6C34878D82A}">
                    <a16:rowId xmlns:a16="http://schemas.microsoft.com/office/drawing/2014/main" val="10003"/>
                  </a:ext>
                </a:extLst>
              </a:tr>
              <a:tr h="705414">
                <a:tc>
                  <a:txBody>
                    <a:bodyPr/>
                    <a:lstStyle/>
                    <a:p>
                      <a:pPr algn="ctr">
                        <a:lnSpc>
                          <a:spcPct val="100000"/>
                        </a:lnSpc>
                        <a:spcAft>
                          <a:spcPts val="1000"/>
                        </a:spcAft>
                      </a:pPr>
                      <a:r>
                        <a:rPr lang="it-IT" sz="1200" b="0" dirty="0">
                          <a:effectLst/>
                          <a:latin typeface="Times New Roman" pitchFamily="18" charset="0"/>
                          <a:ea typeface="Times New Roman" panose="02020603050405020304" pitchFamily="18" charset="0"/>
                          <a:cs typeface="Times New Roman" pitchFamily="18" charset="0"/>
                        </a:rPr>
                        <a:t>Li, X. et al. (2021)</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Computer Vision and Image Understanding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Robust Masked Face Recognition using Transfer Learning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IMDB-Wiki,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Transfer Learning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Utilization of pre-to train models for robust feature representation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Limited generalization to diverse mask types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4"/>
                  </a:ext>
                </a:extLst>
              </a:tr>
              <a:tr h="52906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Wang, Y. et al. (2021)</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Journal of Visual Communication and Image Representation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Hybrid Approach for Masked Face Recognition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UTKFace, Custom Masked Dataset</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Hybrid Approach (Traditional + Deep Learning)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Integration of traditional and deep learning methods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Complexity in parameter tuning</a:t>
                      </a:r>
                    </a:p>
                  </a:txBody>
                  <a:tcPr marL="34987" marR="34987" marT="0" marB="0" anchor="ctr"/>
                </a:tc>
                <a:extLst>
                  <a:ext uri="{0D108BD9-81ED-4DB2-BD59-A6C34878D82A}">
                    <a16:rowId xmlns:a16="http://schemas.microsoft.com/office/drawing/2014/main" val="10005"/>
                  </a:ext>
                </a:extLst>
              </a:tr>
              <a:tr h="52906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Chen, H. et al. (2021)</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Expert Systems with Applications</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Masked Face Recognition using Region-based Models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Region-based Models</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Robust recognition with localized feature extraction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Limited scalability to extreme occlusions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6"/>
                  </a:ext>
                </a:extLst>
              </a:tr>
              <a:tr h="52906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Kim, D. et al. (2021)</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IEEE Transactions on Image Processing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Attention-guided Models for Masked Face Recognition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IMDB-Wiki,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Attention-guided Models</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Improved focus on masked regions for better recognition</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Higher computational cost</a:t>
                      </a:r>
                    </a:p>
                  </a:txBody>
                  <a:tcPr marL="34987" marR="34987" marT="0" marB="0" anchor="ctr"/>
                </a:tc>
                <a:extLst>
                  <a:ext uri="{0D108BD9-81ED-4DB2-BD59-A6C34878D82A}">
                    <a16:rowId xmlns:a16="http://schemas.microsoft.com/office/drawing/2014/main" val="10007"/>
                  </a:ext>
                </a:extLst>
              </a:tr>
              <a:tr h="52906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Wu, X. et al. (2022)</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Computer Vision and Pattern Recognition</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Masked Face Recognition with Feature Fusion and Attention Mechanism</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UTKFace,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Feature Fusion + Attention Mechanism</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Enhanced recognition performance with feature fusion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Higher computational complexity</a:t>
                      </a:r>
                    </a:p>
                  </a:txBody>
                  <a:tcPr marL="34987" marR="34987" marT="0" marB="0" anchor="ctr"/>
                </a:tc>
                <a:extLst>
                  <a:ext uri="{0D108BD9-81ED-4DB2-BD59-A6C34878D82A}">
                    <a16:rowId xmlns:a16="http://schemas.microsoft.com/office/drawing/2014/main" val="10008"/>
                  </a:ext>
                </a:extLst>
              </a:tr>
              <a:tr h="352707">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Park, S. et al. (2022)</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Image and Vision Computing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Robust Masked Face Recognition under Occlusion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Convolutional Neural Networks</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Robust recognition despite mask occlusion</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Limited evaluation on heavily occluded faces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22</a:t>
            </a:r>
            <a:endParaRPr lang="en-IN" sz="1600" b="1" dirty="0">
              <a:latin typeface="Cambria" pitchFamily="18" charset="0"/>
              <a:ea typeface="Cambria" pitchFamily="18" charset="0"/>
            </a:endParaRPr>
          </a:p>
        </p:txBody>
      </p:sp>
      <p:sp>
        <p:nvSpPr>
          <p:cNvPr id="5" name="Rectangle: Rounded Corners 4"/>
          <p:cNvSpPr/>
          <p:nvPr/>
        </p:nvSpPr>
        <p:spPr>
          <a:xfrm>
            <a:off x="-66675" y="239253"/>
            <a:ext cx="4176000" cy="684000"/>
          </a:xfrm>
          <a:prstGeom prst="roundRect">
            <a:avLst/>
          </a:prstGeom>
          <a:solidFill>
            <a:schemeClr val="accent2"/>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40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Literature Survey</a:t>
            </a:r>
            <a:endParaRPr lang="en-IN" sz="4000" dirty="0">
              <a:solidFill>
                <a:schemeClr val="bg1"/>
              </a:solidFill>
            </a:endParaRPr>
          </a:p>
        </p:txBody>
      </p:sp>
      <p:graphicFrame>
        <p:nvGraphicFramePr>
          <p:cNvPr id="7" name="Table 6"/>
          <p:cNvGraphicFramePr>
            <a:graphicFrameLocks noGrp="1"/>
          </p:cNvGraphicFramePr>
          <p:nvPr/>
        </p:nvGraphicFramePr>
        <p:xfrm>
          <a:off x="150813" y="1238250"/>
          <a:ext cx="11875285" cy="5067526"/>
        </p:xfrm>
        <a:graphic>
          <a:graphicData uri="http://schemas.openxmlformats.org/drawingml/2006/table">
            <a:tbl>
              <a:tblPr firstRow="1" firstCol="1" bandRow="1">
                <a:tableStyleId>{7DF18680-E054-41AD-8BC1-D1AEF772440D}</a:tableStyleId>
              </a:tblPr>
              <a:tblGrid>
                <a:gridCol w="871163">
                  <a:extLst>
                    <a:ext uri="{9D8B030D-6E8A-4147-A177-3AD203B41FA5}">
                      <a16:colId xmlns:a16="http://schemas.microsoft.com/office/drawing/2014/main" val="20000"/>
                    </a:ext>
                  </a:extLst>
                </a:gridCol>
                <a:gridCol w="1715397">
                  <a:extLst>
                    <a:ext uri="{9D8B030D-6E8A-4147-A177-3AD203B41FA5}">
                      <a16:colId xmlns:a16="http://schemas.microsoft.com/office/drawing/2014/main" val="20001"/>
                    </a:ext>
                  </a:extLst>
                </a:gridCol>
                <a:gridCol w="2067586">
                  <a:extLst>
                    <a:ext uri="{9D8B030D-6E8A-4147-A177-3AD203B41FA5}">
                      <a16:colId xmlns:a16="http://schemas.microsoft.com/office/drawing/2014/main" val="20002"/>
                    </a:ext>
                  </a:extLst>
                </a:gridCol>
                <a:gridCol w="1715762">
                  <a:extLst>
                    <a:ext uri="{9D8B030D-6E8A-4147-A177-3AD203B41FA5}">
                      <a16:colId xmlns:a16="http://schemas.microsoft.com/office/drawing/2014/main" val="20003"/>
                    </a:ext>
                  </a:extLst>
                </a:gridCol>
                <a:gridCol w="1528997">
                  <a:extLst>
                    <a:ext uri="{9D8B030D-6E8A-4147-A177-3AD203B41FA5}">
                      <a16:colId xmlns:a16="http://schemas.microsoft.com/office/drawing/2014/main" val="20004"/>
                    </a:ext>
                  </a:extLst>
                </a:gridCol>
                <a:gridCol w="2147579">
                  <a:extLst>
                    <a:ext uri="{9D8B030D-6E8A-4147-A177-3AD203B41FA5}">
                      <a16:colId xmlns:a16="http://schemas.microsoft.com/office/drawing/2014/main" val="20005"/>
                    </a:ext>
                  </a:extLst>
                </a:gridCol>
                <a:gridCol w="1828801">
                  <a:extLst>
                    <a:ext uri="{9D8B030D-6E8A-4147-A177-3AD203B41FA5}">
                      <a16:colId xmlns:a16="http://schemas.microsoft.com/office/drawing/2014/main" val="20006"/>
                    </a:ext>
                  </a:extLst>
                </a:gridCol>
              </a:tblGrid>
              <a:tr h="163348">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Reference</a:t>
                      </a: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Journal</a:t>
                      </a:r>
                      <a:r>
                        <a:rPr lang="en-IN" sz="1200" b="1" baseline="0" dirty="0">
                          <a:effectLst/>
                          <a:latin typeface="Times New Roman" pitchFamily="18" charset="0"/>
                          <a:ea typeface="Times New Roman" panose="02020603050405020304" pitchFamily="18" charset="0"/>
                          <a:cs typeface="Times New Roman" pitchFamily="18" charset="0"/>
                        </a:rPr>
                        <a:t> Name</a:t>
                      </a:r>
                      <a:endParaRPr lang="en-IN" sz="1200" b="1"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Title</a:t>
                      </a:r>
                    </a:p>
                  </a:txBody>
                  <a:tcPr marL="34987" marR="34987" marT="0" marB="0" anchor="ctr"/>
                </a:tc>
                <a:tc>
                  <a:txBody>
                    <a:bodyPr/>
                    <a:lstStyle/>
                    <a:p>
                      <a:pPr marL="0" marR="0" indent="0" algn="ctr" defTabSz="914400" rtl="0" eaLnBrk="1" fontAlgn="auto" latinLnBrk="0" hangingPunct="1">
                        <a:lnSpc>
                          <a:spcPct val="105000"/>
                        </a:lnSpc>
                        <a:spcBef>
                          <a:spcPts val="0"/>
                        </a:spcBef>
                        <a:spcAft>
                          <a:spcPts val="1000"/>
                        </a:spcAft>
                        <a:buClrTx/>
                        <a:buSzTx/>
                        <a:buFontTx/>
                        <a:buNone/>
                        <a:tabLst/>
                        <a:defRPr/>
                      </a:pPr>
                      <a:r>
                        <a:rPr lang="en-IN" sz="1200" b="1" dirty="0">
                          <a:effectLst/>
                          <a:latin typeface="Times New Roman" pitchFamily="18" charset="0"/>
                          <a:ea typeface="Times New Roman" panose="02020603050405020304" pitchFamily="18" charset="0"/>
                          <a:cs typeface="Times New Roman" pitchFamily="18" charset="0"/>
                        </a:rPr>
                        <a:t>Dataset</a:t>
                      </a: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Approach</a:t>
                      </a:r>
                    </a:p>
                  </a:txBody>
                  <a:tcPr marL="34987" marR="34987" marT="0" marB="0" anchor="ctr"/>
                </a:tc>
                <a:tc>
                  <a:txBody>
                    <a:bodyPr/>
                    <a:lstStyle/>
                    <a:p>
                      <a:pPr marL="0" marR="0" indent="0" algn="ctr" defTabSz="914400" rtl="0" eaLnBrk="1" fontAlgn="auto" latinLnBrk="0" hangingPunct="1">
                        <a:lnSpc>
                          <a:spcPct val="105000"/>
                        </a:lnSpc>
                        <a:spcBef>
                          <a:spcPts val="0"/>
                        </a:spcBef>
                        <a:spcAft>
                          <a:spcPts val="1000"/>
                        </a:spcAft>
                        <a:buClrTx/>
                        <a:buSzTx/>
                        <a:buFontTx/>
                        <a:buNone/>
                        <a:tabLst/>
                        <a:defRPr/>
                      </a:pPr>
                      <a:r>
                        <a:rPr lang="en-IN" sz="1200" b="1" dirty="0">
                          <a:effectLst/>
                          <a:latin typeface="Times New Roman" pitchFamily="18" charset="0"/>
                          <a:ea typeface="Times New Roman" panose="02020603050405020304" pitchFamily="18" charset="0"/>
                          <a:cs typeface="Times New Roman" pitchFamily="18" charset="0"/>
                        </a:rPr>
                        <a:t>Advantages</a:t>
                      </a:r>
                    </a:p>
                  </a:txBody>
                  <a:tcPr marL="34987" marR="34987" marT="0" marB="0" anchor="ctr"/>
                </a:tc>
                <a:tc>
                  <a:txBody>
                    <a:bodyPr/>
                    <a:lstStyle/>
                    <a:p>
                      <a:pPr algn="ctr">
                        <a:lnSpc>
                          <a:spcPct val="105000"/>
                        </a:lnSpc>
                        <a:spcAft>
                          <a:spcPts val="1000"/>
                        </a:spcAft>
                      </a:pPr>
                      <a:r>
                        <a:rPr lang="en-IN" sz="1200" b="1" dirty="0">
                          <a:effectLst/>
                          <a:latin typeface="Times New Roman" pitchFamily="18" charset="0"/>
                          <a:ea typeface="Times New Roman" panose="02020603050405020304" pitchFamily="18" charset="0"/>
                          <a:cs typeface="Times New Roman" pitchFamily="18" charset="0"/>
                        </a:rPr>
                        <a:t>Observations/Limitations</a:t>
                      </a:r>
                    </a:p>
                  </a:txBody>
                  <a:tcPr marL="34987" marR="34987" marT="0" marB="0" anchor="ctr"/>
                </a:tc>
                <a:extLst>
                  <a:ext uri="{0D108BD9-81ED-4DB2-BD59-A6C34878D82A}">
                    <a16:rowId xmlns:a16="http://schemas.microsoft.com/office/drawing/2014/main" val="10000"/>
                  </a:ext>
                </a:extLst>
              </a:tr>
              <a:tr h="498701">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Zhang, L. et al. (2022)</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Journal of Machine Learning Research</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Masked Face Recognition based on Transfer Learning and Ensemble Learning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UTKFace,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Transfer Learning + Ensemble Learning</a:t>
                      </a:r>
                    </a:p>
                  </a:txBody>
                  <a:tcPr marL="34987" marR="34987" marT="0" marB="0" anchor="ctr"/>
                </a:tc>
                <a:tc>
                  <a:txBody>
                    <a:bodyPr/>
                    <a:lstStyle/>
                    <a:p>
                      <a:pPr marL="0" marR="0" indent="0" algn="ctr" defTabSz="914400" rtl="0" eaLnBrk="1" fontAlgn="auto" latinLnBrk="0" hangingPunct="1">
                        <a:lnSpc>
                          <a:spcPct val="100000"/>
                        </a:lnSpc>
                        <a:spcBef>
                          <a:spcPts val="0"/>
                        </a:spcBef>
                        <a:spcAft>
                          <a:spcPts val="1000"/>
                        </a:spcAft>
                        <a:buClrTx/>
                        <a:buSzTx/>
                        <a:buFontTx/>
                        <a:buNone/>
                        <a:tabLst/>
                        <a:defRPr/>
                      </a:pPr>
                      <a:r>
                        <a:rPr lang="en-US" sz="1200" b="0" dirty="0">
                          <a:effectLst/>
                          <a:latin typeface="Times New Roman" pitchFamily="18" charset="0"/>
                          <a:ea typeface="Times New Roman" panose="02020603050405020304" pitchFamily="18" charset="0"/>
                          <a:cs typeface="Times New Roman" pitchFamily="18" charset="0"/>
                        </a:rPr>
                        <a:t>Improved recognition robustness with ensemble models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Increased complexity due to ensemble learning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1"/>
                  </a:ext>
                </a:extLst>
              </a:tr>
              <a:tr h="49870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Wang, Q. et al. (2022)</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IEEE Transactions on Multimedia</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Fine-tuned Models for Masked Face Recognition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UTKFace, IMDB-Wiki,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Deep Learning + Fine-tuning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High accuracy in identifying masked faces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Fine-tuning dependency on initial model quality</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2"/>
                  </a:ext>
                </a:extLst>
              </a:tr>
              <a:tr h="49870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Liu, X. et al. (2022)</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Neural Networks</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Adversarial Training and Multi-task Learning for Masked Face Recognition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UTKFace,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Adversarial Training + Multi-task Learning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Enhanced generalization to diverse masks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Increased computational cost due to adversarial training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3"/>
                  </a:ext>
                </a:extLst>
              </a:tr>
              <a:tr h="498701">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Zhang, Z. et al. (2023)</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Image and Vision Computing</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Robust Masked Face Recognition under Illumination Variations</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Illumination-invariant Representation</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Robust recognition under varying lighting conditions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Limited scalability to large-scale datasets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4"/>
                  </a:ext>
                </a:extLst>
              </a:tr>
              <a:tr h="49870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Wang, H. et al. (2023)</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Pattern Recognition</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Hybrid Approach for Masked Face Recognition with Semantic Segmentation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UTKFace,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Semantic Segmentation + Deep Learning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Improved localization and recognition with semantic segmentation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Higher computational cost for segmentation tasks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5"/>
                  </a:ext>
                </a:extLst>
              </a:tr>
              <a:tr h="49870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Chen, W. et al. (2023)</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IEEE Transactions on Biometrics, Behavior, and Identity Science</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Adversarial Domain Adaptation for Masked Face Recognition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UTKFace,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Adversarial Domain Adaptation</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Enhanced generalization to unseen masked conditions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Increased computational cost due to domain adaptation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6"/>
                  </a:ext>
                </a:extLst>
              </a:tr>
              <a:tr h="49870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Liu, Y. et al. (2023)</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Expert Systems with Applications</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Multi-modal Fusion for Masked Face Recognition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UTKFace,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Multi-modal Fusion</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Improved recognition robustness by combining multiple modalities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Complexity in fusion strategies and parameter tuning</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7"/>
                  </a:ext>
                </a:extLst>
              </a:tr>
              <a:tr h="498701">
                <a:tc>
                  <a:txBody>
                    <a:bodyPr/>
                    <a:lstStyle/>
                    <a:p>
                      <a:pPr algn="ctr">
                        <a:lnSpc>
                          <a:spcPct val="100000"/>
                        </a:lnSpc>
                        <a:spcAft>
                          <a:spcPts val="1000"/>
                        </a:spcAft>
                      </a:pPr>
                      <a:r>
                        <a:rPr lang="da-DK" sz="1200" b="0" dirty="0">
                          <a:effectLst/>
                          <a:latin typeface="Times New Roman" pitchFamily="18" charset="0"/>
                          <a:ea typeface="Times New Roman" panose="02020603050405020304" pitchFamily="18" charset="0"/>
                          <a:cs typeface="Times New Roman" pitchFamily="18" charset="0"/>
                        </a:rPr>
                        <a:t>Wang, L. et al. (2023)</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Journal of Visual Communication and Image Representation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Self-supervised Learning for Masked Face Recognition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Self-supervised Learning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Utilization of self-supervised learning for robust feature representation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Limited scalability to diverse mask types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8"/>
                  </a:ext>
                </a:extLst>
              </a:tr>
              <a:tr h="498701">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Zhang, X. et al. (2023)</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Computer Vision and Image Understanding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Graph-based Representation Learning for Masked Face Recognition</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UTKFace, Custom Masked Dataset</a:t>
                      </a:r>
                    </a:p>
                  </a:txBody>
                  <a:tcPr marL="34987" marR="34987" marT="0" marB="0" anchor="ctr"/>
                </a:tc>
                <a:tc>
                  <a:txBody>
                    <a:bodyPr/>
                    <a:lstStyle/>
                    <a:p>
                      <a:pPr algn="ctr">
                        <a:lnSpc>
                          <a:spcPct val="100000"/>
                        </a:lnSpc>
                        <a:spcAft>
                          <a:spcPts val="1000"/>
                        </a:spcAft>
                      </a:pPr>
                      <a:r>
                        <a:rPr lang="en-IN" sz="1200" b="0" dirty="0">
                          <a:effectLst/>
                          <a:latin typeface="Times New Roman" pitchFamily="18" charset="0"/>
                          <a:ea typeface="Times New Roman" panose="02020603050405020304" pitchFamily="18" charset="0"/>
                          <a:cs typeface="Times New Roman" pitchFamily="18" charset="0"/>
                        </a:rPr>
                        <a:t>Graph-based Representation Learning</a:t>
                      </a: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Enhanced feature learning with graph-based models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tc>
                  <a:txBody>
                    <a:bodyPr/>
                    <a:lstStyle/>
                    <a:p>
                      <a:pPr algn="ctr">
                        <a:lnSpc>
                          <a:spcPct val="100000"/>
                        </a:lnSpc>
                        <a:spcAft>
                          <a:spcPts val="1000"/>
                        </a:spcAft>
                      </a:pPr>
                      <a:r>
                        <a:rPr lang="en-US" sz="1200" b="0" dirty="0">
                          <a:effectLst/>
                          <a:latin typeface="Times New Roman" pitchFamily="18" charset="0"/>
                          <a:ea typeface="Times New Roman" panose="02020603050405020304" pitchFamily="18" charset="0"/>
                          <a:cs typeface="Times New Roman" pitchFamily="18" charset="0"/>
                        </a:rPr>
                        <a:t>Limited scalability to large-scale datasets</a:t>
                      </a:r>
                      <a:endParaRPr lang="en-IN" sz="1200" b="0" dirty="0">
                        <a:effectLst/>
                        <a:latin typeface="Times New Roman" pitchFamily="18" charset="0"/>
                        <a:ea typeface="Times New Roman" panose="02020603050405020304" pitchFamily="18" charset="0"/>
                        <a:cs typeface="Times New Roman" pitchFamily="18" charset="0"/>
                      </a:endParaRPr>
                    </a:p>
                  </a:txBody>
                  <a:tcPr marL="34987" marR="34987"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p:cNvSpPr/>
          <p:nvPr/>
        </p:nvSpPr>
        <p:spPr>
          <a:xfrm>
            <a:off x="0" y="6437732"/>
            <a:ext cx="12192000" cy="420268"/>
          </a:xfrm>
          <a:prstGeom prst="roundRect">
            <a:avLst/>
          </a:prstGeom>
          <a:solidFill>
            <a:srgbClr val="7030A0"/>
          </a:solidFill>
          <a:ln>
            <a:solidFill>
              <a:schemeClr val="tx2"/>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Cambria" pitchFamily="18" charset="0"/>
                <a:ea typeface="Cambria" pitchFamily="18" charset="0"/>
              </a:rPr>
              <a:t>Date: 08-07-2025			                			                           23</a:t>
            </a:r>
            <a:endParaRPr lang="en-IN" sz="1600" b="1" dirty="0">
              <a:latin typeface="Cambria" pitchFamily="18" charset="0"/>
              <a:ea typeface="Cambria" pitchFamily="18" charset="0"/>
            </a:endParaRPr>
          </a:p>
        </p:txBody>
      </p:sp>
      <p:sp>
        <p:nvSpPr>
          <p:cNvPr id="5" name="Rectangle: Rounded Corners 4"/>
          <p:cNvSpPr/>
          <p:nvPr/>
        </p:nvSpPr>
        <p:spPr>
          <a:xfrm>
            <a:off x="1781176" y="2391902"/>
            <a:ext cx="8210550" cy="1989597"/>
          </a:xfrm>
          <a:prstGeom prst="roundRect">
            <a:avLst/>
          </a:prstGeom>
          <a:solidFill>
            <a:srgbClr val="002060"/>
          </a:solidFill>
          <a:scene3d>
            <a:camera prst="isometricOffAxis1Right">
              <a:rot lat="1080000" lon="20400000" rev="0"/>
            </a:camera>
            <a:lightRig rig="threePt" dir="t"/>
          </a:scene3d>
        </p:spPr>
        <p:style>
          <a:lnRef idx="1">
            <a:schemeClr val="accent2"/>
          </a:lnRef>
          <a:fillRef idx="3">
            <a:schemeClr val="accent2"/>
          </a:fillRef>
          <a:effectRef idx="2">
            <a:schemeClr val="accent2"/>
          </a:effectRef>
          <a:fontRef idx="minor">
            <a:schemeClr val="lt1"/>
          </a:fontRef>
        </p:style>
        <p:txBody>
          <a:bodyPr anchor="ctr"/>
          <a:lstStyle/>
          <a:p>
            <a:pPr fontAlgn="auto">
              <a:spcBef>
                <a:spcPts val="0"/>
              </a:spcBef>
              <a:spcAft>
                <a:spcPts val="0"/>
              </a:spcAft>
              <a:defRPr/>
            </a:pPr>
            <a:r>
              <a:rPr lang="en-US" altLang="en-US" sz="9600" b="1" dirty="0">
                <a:solidFill>
                  <a:schemeClr val="bg1"/>
                </a:solidFill>
                <a:effectLst>
                  <a:outerShdw blurRad="31750" dist="25400" dir="5400000" algn="tl" rotWithShape="0">
                    <a:srgbClr val="000000">
                      <a:alpha val="25000"/>
                    </a:srgbClr>
                  </a:outerShdw>
                </a:effectLst>
                <a:latin typeface="Times New Roman"/>
                <a:ea typeface="+mj-ea"/>
                <a:cs typeface="Calibri" pitchFamily="34" charset="0"/>
              </a:rPr>
              <a:t> Thanking You</a:t>
            </a:r>
            <a:endParaRPr lang="en-IN" sz="96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5573</TotalTime>
  <Words>4102</Words>
  <Application>Microsoft Office PowerPoint</Application>
  <PresentationFormat>Widescreen</PresentationFormat>
  <Paragraphs>578</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Cambria</vt:lpstr>
      <vt:lpstr>StarSymbol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Include the given logos Max time for presentation 10 mins(8mins+2mins Q&amp;A) You have to submit the PPT at the reception desk (conference venue)</dc:title>
  <dc:creator>ECE-SB</dc:creator>
  <cp:lastModifiedBy>seshagirithananki@gmail.com</cp:lastModifiedBy>
  <cp:revision>919</cp:revision>
  <dcterms:created xsi:type="dcterms:W3CDTF">2019-12-03T14:14:39Z</dcterms:created>
  <dcterms:modified xsi:type="dcterms:W3CDTF">2025-07-08T03:09:05Z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73168</vt:lpwstr>
  </property>
  <property fmtid="{D5CDD505-2E9C-101B-9397-08002B2CF9AE}" pid="3" name="NXPowerLiteSettings">
    <vt:lpwstr>C7000400038000</vt:lpwstr>
  </property>
  <property fmtid="{D5CDD505-2E9C-101B-9397-08002B2CF9AE}" pid="4" name="NXPowerLiteVersion">
    <vt:lpwstr>S8.2.3</vt:lpwstr>
  </property>
</Properties>
</file>